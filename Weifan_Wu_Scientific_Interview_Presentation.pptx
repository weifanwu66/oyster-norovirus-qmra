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members of the search committee. My name is Weifan Wu. I am currently a Postdoctoral Associate at the University of Florida with a background in food microbiology, predictive modeling, and Quantitative Microbial Risk Assessment (QMRA). My core research focus is bridging experimental microbiology and mathematical modeling to translate quantitative models into practical food-process decisions.</a:t>
            </a:r>
          </a:p>
          <a:p/>
          <a:p>
            <a:r>
              <a:t>Today, I will present an ongoing project on dynamic thermal modeling for risk-based oyster cooking recommendations, based on our manuscript submitted to the International Journal of Food Microbiology. I will cover three main parts: 1) Our experimental foundation, 2) Modeling and QMRA, and 3) Translation to product and process decisions, including applications to fermentation R&amp;D.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rationale is that cooking guidance or a process label does not describe the thermal exposure experienced by the microorganism. Two oysters may reach the same endpoint temperature but follow different come-up trajectories and therefore accumulate different lethality. This motivates measuring internal T(t) and integrating the full trajectory through a dynamic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frame the project as a four-stage workflow. The first two stages—dynamic inactivation experiments and kinetic modeling—are completed. The QMRA integration is ongoing, and the future industry translation is whole-oyster process validation plus sensory evaluation. This slide also addresses stakeholder engagement: the work links experimental virology, quantitative modeling, risk assessment, and eventually product-development stakeholders.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the experimental foundation. We used oyster digestive diverticula because that is where enteric viruses concentrate in oysters. The central difference from traditional isothermal work is that we measured the internal temperature trajectory during heating and used that trajectory in the model. The point is not simply that the target was 50, 55, 60, or 63°C; the point is that the sample has a history of temperatures over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key completed scientific outcome. We compared several candidate models and retained the Geeraerd model without a shoulder because it was more stable and interpretable for downstream use. The major finding is the matrix effect: at 57°C, the D-value increased from about 1.16 minutes in PBS to 7.88 minutes in oyster tissue, showing that buffer-based data can underestimate viral persistence in the actual food matrix.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I would use to show judgment as a scientist. The apparent shoulder in the survival data is not automatically a biological mechanism, because it overlaps with the time the sample is still warming up. The solution is dynamic modeling with the measured temperature history. I also clearly state the model boundary: the current model is not a validated prediction for 90 or 100°C whole-oyster cooking. The translational step is to measure the actual internal temperature profile under those cooking processes and then integrate that measured profile.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shifts from predictive microbiology to risk assessment. The point is that log reduction is not the final decision endpoint. QMRA allows us to propagate uncertainty in contamination, infectivity conversion, thermal reduction, serving size, and dose-response into a consumer-level risk estimate. I would emphasize that this is ongoing: the framework is established, but final risk distributions are not yet presented as completed results.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makes the project more relevant to the food industry. A microbiologist might say hotter and longer is better, but a food R&amp;D scientist has to balance safety with quality. The future phase would combine QMRA-defined safety targets with sensory and product-quality attributes such as texture, juiciness, flavor, and yield. The practical output is not a single magical temperature; it is a validated operating window.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close by making the connection to fermentation. Thermal inactivation and fermentation are not the same biology, but the modeling workflow is highly transferable. In fermentation, primary models can describe pH decline, acid production, cell growth, metabolite production, or post-acidification; secondary models or statistical models can describe how those kinetics depend on temperature, inoculum, substrate, or formulation. For food-industry R&amp;D, the goal is not always fastest acidification or best average performance, but a robust process window that holds up under realistic variability.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172A"/>
                </a:solidFill>
                <a:latin typeface="Arial"/>
              </a:defRPr>
            </a:pPr>
            <a:r>
              <a:t>Introduction &amp; project overview</a:t>
            </a:r>
          </a:p>
        </p:txBody>
      </p:sp>
      <p:sp>
        <p:nvSpPr>
          <p:cNvPr id="4" name="Rounded Rectangle 3"/>
          <p:cNvSpPr/>
          <p:nvPr/>
        </p:nvSpPr>
        <p:spPr>
          <a:xfrm>
            <a:off x="731520" y="1371600"/>
            <a:ext cx="51206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572000"/>
          </a:xfrm>
          <a:prstGeom prst="rect">
            <a:avLst/>
          </a:prstGeom>
          <a:noFill/>
        </p:spPr>
        <p:txBody>
          <a:bodyPr wrap="square">
            <a:spAutoFit/>
          </a:bodyPr>
          <a:lstStyle/>
          <a:p>
            <a:pPr>
              <a:spcAft>
                <a:spcPts val="200"/>
              </a:spcAft>
              <a:defRPr sz="2600" b="1">
                <a:solidFill>
                  <a:srgbClr val="1E3A8A"/>
                </a:solidFill>
                <a:latin typeface="Arial"/>
              </a:defRPr>
            </a:pPr>
            <a:r>
              <a:t>Weifan Wu, PhD</a:t>
            </a:r>
          </a:p>
          <a:p>
            <a:pPr>
              <a:spcAft>
                <a:spcPts val="600"/>
              </a:spcAft>
              <a:defRPr sz="2000">
                <a:solidFill>
                  <a:srgbClr val="334155"/>
                </a:solidFill>
                <a:latin typeface="Arial"/>
              </a:defRPr>
            </a:pPr>
            <a:r>
              <a:t>Postdoctoral Associate, University of Florida</a:t>
            </a:r>
          </a:p>
          <a:p>
            <a:pPr>
              <a:spcAft>
                <a:spcPts val="1400"/>
              </a:spcAft>
              <a:defRPr sz="1800" b="1" i="1">
                <a:solidFill>
                  <a:srgbClr val="0D9488"/>
                </a:solidFill>
                <a:latin typeface="Arial"/>
              </a:defRPr>
            </a:pPr>
            <a:r>
              <a:t>Food microbiology  |  Predictive modeling  |  QMRA</a:t>
            </a:r>
          </a:p>
          <a:p>
            <a:pPr>
              <a:spcAft>
                <a:spcPts val="800"/>
              </a:spcAft>
              <a:defRPr sz="1900">
                <a:solidFill>
                  <a:srgbClr val="0F172A"/>
                </a:solidFill>
                <a:latin typeface="Arial"/>
              </a:defRPr>
            </a:pPr>
            <a:r>
              <a:t>• Research background in food microbiology and quantitative predictive modeling.</a:t>
            </a:r>
          </a:p>
          <a:p>
            <a:pPr>
              <a:spcAft>
                <a:spcPts val="800"/>
              </a:spcAft>
              <a:defRPr sz="1900">
                <a:solidFill>
                  <a:srgbClr val="0F172A"/>
                </a:solidFill>
                <a:latin typeface="Arial"/>
              </a:defRPr>
            </a:pPr>
            <a:r>
              <a:t>• Experience bridging experimental microbiology and quantitative risk assessment.</a:t>
            </a:r>
          </a:p>
          <a:p>
            <a:pPr>
              <a:spcAft>
                <a:spcPts val="800"/>
              </a:spcAft>
              <a:defRPr sz="1900">
                <a:solidFill>
                  <a:srgbClr val="0F172A"/>
                </a:solidFill>
                <a:latin typeface="Arial"/>
              </a:defRPr>
            </a:pPr>
            <a:r>
              <a:t>• Interested in translating quantitative models into practical food-process decisions.</a:t>
            </a:r>
          </a:p>
        </p:txBody>
      </p:sp>
      <p:sp>
        <p:nvSpPr>
          <p:cNvPr id="6" name="Rounded Rectangle 5"/>
          <p:cNvSpPr/>
          <p:nvPr/>
        </p:nvSpPr>
        <p:spPr>
          <a:xfrm>
            <a:off x="6126480" y="1371600"/>
            <a:ext cx="5333695"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309360" y="1554480"/>
            <a:ext cx="1645920" cy="347472"/>
          </a:xfrm>
          <a:prstGeom prst="roundRect">
            <a:avLst/>
          </a:prstGeom>
          <a:solidFill>
            <a:srgbClr val="FEF3C7"/>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400" b="1">
                <a:solidFill>
                  <a:srgbClr val="92400E"/>
                </a:solidFill>
                <a:latin typeface="Arial"/>
              </a:defRPr>
            </a:pPr>
            <a:r>
              <a:t>Ongoing Project</a:t>
            </a:r>
          </a:p>
        </p:txBody>
      </p:sp>
      <p:sp>
        <p:nvSpPr>
          <p:cNvPr id="8" name="TextBox 7"/>
          <p:cNvSpPr txBox="1"/>
          <p:nvPr/>
        </p:nvSpPr>
        <p:spPr>
          <a:xfrm>
            <a:off x="6309360" y="2011680"/>
            <a:ext cx="4967935" cy="4114800"/>
          </a:xfrm>
          <a:prstGeom prst="rect">
            <a:avLst/>
          </a:prstGeom>
          <a:noFill/>
        </p:spPr>
        <p:txBody>
          <a:bodyPr wrap="square">
            <a:spAutoFit/>
          </a:bodyPr>
          <a:lstStyle/>
          <a:p>
            <a:pPr>
              <a:spcAft>
                <a:spcPts val="200"/>
              </a:spcAft>
              <a:defRPr sz="1800" b="1">
                <a:solidFill>
                  <a:srgbClr val="1E3A8A"/>
                </a:solidFill>
                <a:latin typeface="Arial"/>
              </a:defRPr>
            </a:pPr>
            <a:r>
              <a:t>Project Topic:</a:t>
            </a:r>
          </a:p>
          <a:p>
            <a:pPr>
              <a:spcAft>
                <a:spcPts val="600"/>
              </a:spcAft>
              <a:defRPr sz="2200" b="1">
                <a:solidFill>
                  <a:srgbClr val="0F172A"/>
                </a:solidFill>
                <a:latin typeface="Arial"/>
              </a:defRPr>
            </a:pPr>
            <a:r>
              <a:t>Dynamic thermal modeling for risk-based oyster cooking recommendations</a:t>
            </a:r>
          </a:p>
          <a:p>
            <a:pPr>
              <a:spcAft>
                <a:spcPts val="1800"/>
              </a:spcAft>
              <a:defRPr sz="1500" i="1">
                <a:solidFill>
                  <a:srgbClr val="64748B"/>
                </a:solidFill>
                <a:latin typeface="Arial"/>
              </a:defRPr>
            </a:pPr>
            <a:r>
              <a:t>Primary basis: Dicker, S.L., Mirmahdi, R.S., Wu, W., et al. Submitted to International Journal of Food Microbiology.</a:t>
            </a:r>
          </a:p>
          <a:p>
            <a:pPr>
              <a:spcAft>
                <a:spcPts val="800"/>
              </a:spcAft>
              <a:defRPr sz="2200" b="1">
                <a:solidFill>
                  <a:srgbClr val="1E3A8A"/>
                </a:solidFill>
                <a:latin typeface="Arial"/>
              </a:defRPr>
            </a:pPr>
            <a:r>
              <a:t>Agenda</a:t>
            </a:r>
          </a:p>
          <a:p>
            <a:pPr>
              <a:spcAft>
                <a:spcPts val="600"/>
              </a:spcAft>
              <a:defRPr sz="1900">
                <a:solidFill>
                  <a:srgbClr val="0F172A"/>
                </a:solidFill>
                <a:latin typeface="Arial"/>
              </a:defRPr>
            </a:pPr>
            <a:r>
              <a:t>1. Experimental foundation</a:t>
            </a:r>
            <a:br/>
            <a:r>
              <a:t>   Dynamic diverticula inactivation &amp; surrogate kinetics</a:t>
            </a:r>
          </a:p>
          <a:p>
            <a:pPr>
              <a:spcAft>
                <a:spcPts val="600"/>
              </a:spcAft>
              <a:defRPr sz="1900">
                <a:solidFill>
                  <a:srgbClr val="0F172A"/>
                </a:solidFill>
                <a:latin typeface="Arial"/>
              </a:defRPr>
            </a:pPr>
            <a:r>
              <a:t>2. Modeling and QMRA</a:t>
            </a:r>
            <a:br/>
            <a:r>
              <a:t>   Model selection (Geeraerd) &amp; risk translation</a:t>
            </a:r>
          </a:p>
          <a:p>
            <a:pPr>
              <a:spcAft>
                <a:spcPts val="600"/>
              </a:spcAft>
              <a:defRPr sz="1900">
                <a:solidFill>
                  <a:srgbClr val="0F172A"/>
                </a:solidFill>
                <a:latin typeface="Arial"/>
              </a:defRPr>
            </a:pPr>
            <a:r>
              <a:t>3. Translation to product/process decisions</a:t>
            </a:r>
            <a:br/>
            <a:r>
              <a:t>   Safety × quality window &amp; fermentation R&amp;D</a:t>
            </a:r>
          </a:p>
        </p:txBody>
      </p:sp>
      <p:sp>
        <p:nvSpPr>
          <p:cNvPr id="9" name="TextBox 8"/>
          <p:cNvSpPr txBox="1"/>
          <p:nvPr/>
        </p:nvSpPr>
        <p:spPr>
          <a:xfrm>
            <a:off x="10972800" y="6400800"/>
            <a:ext cx="914400" cy="320040"/>
          </a:xfrm>
          <a:prstGeom prst="rect">
            <a:avLst/>
          </a:prstGeom>
          <a:noFill/>
        </p:spPr>
        <p:txBody>
          <a:bodyPr wrap="none" lIns="0" rIns="0" tIns="0" bIns="0">
            <a:spAutoFit/>
          </a:bodyPr>
          <a:lstStyle/>
          <a:p>
            <a:pPr algn="r">
              <a:defRPr sz="1400">
                <a:solidFill>
                  <a:srgbClr val="64748B"/>
                </a:solidFill>
                <a:latin typeface="Aria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172A"/>
                </a:solidFill>
                <a:latin typeface="Arial"/>
              </a:defRPr>
            </a:pPr>
            <a:r>
              <a:t>Cooking guidance defines a target — not the full thermal exposure</a:t>
            </a:r>
          </a:p>
        </p:txBody>
      </p:sp>
      <p:sp>
        <p:nvSpPr>
          <p:cNvPr id="4" name="Rounded Rectangle 3"/>
          <p:cNvSpPr/>
          <p:nvPr/>
        </p:nvSpPr>
        <p:spPr>
          <a:xfrm>
            <a:off x="731520" y="1371600"/>
            <a:ext cx="512064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3566160"/>
          </a:xfrm>
          <a:prstGeom prst="rect">
            <a:avLst/>
          </a:prstGeom>
          <a:noFill/>
        </p:spPr>
        <p:txBody>
          <a:bodyPr wrap="square">
            <a:spAutoFit/>
          </a:bodyPr>
          <a:lstStyle/>
          <a:p>
            <a:pPr>
              <a:spcAft>
                <a:spcPts val="1000"/>
              </a:spcAft>
              <a:defRPr sz="2400" b="1">
                <a:solidFill>
                  <a:srgbClr val="1E3A8A"/>
                </a:solidFill>
                <a:latin typeface="Arial"/>
              </a:defRPr>
            </a:pPr>
            <a:r>
              <a:t>Real-world process space</a:t>
            </a:r>
          </a:p>
          <a:p>
            <a:pPr>
              <a:spcAft>
                <a:spcPts val="800"/>
              </a:spcAft>
              <a:defRPr sz="2000">
                <a:solidFill>
                  <a:srgbClr val="0F172A"/>
                </a:solidFill>
                <a:latin typeface="Arial"/>
              </a:defRPr>
            </a:pPr>
            <a:r>
              <a:t>• Oysters are steamed, boiled, baked, or roasted across consumer &amp; food-service settings.</a:t>
            </a:r>
          </a:p>
          <a:p>
            <a:pPr>
              <a:spcAft>
                <a:spcPts val="800"/>
              </a:spcAft>
              <a:defRPr sz="2000">
                <a:solidFill>
                  <a:srgbClr val="0F172A"/>
                </a:solidFill>
                <a:latin typeface="Arial"/>
              </a:defRPr>
            </a:pPr>
            <a:r>
              <a:t>• High process variability is driven by shell geometry, batch size, and heating equipment.</a:t>
            </a:r>
          </a:p>
          <a:p>
            <a:pPr>
              <a:spcAft>
                <a:spcPts val="800"/>
              </a:spcAft>
              <a:defRPr sz="2000">
                <a:solidFill>
                  <a:srgbClr val="0F172A"/>
                </a:solidFill>
                <a:latin typeface="Arial"/>
              </a:defRPr>
            </a:pPr>
            <a:r>
              <a:t>• The cooking method label alone does not define the internal heating history.</a:t>
            </a:r>
          </a:p>
        </p:txBody>
      </p:sp>
      <p:sp>
        <p:nvSpPr>
          <p:cNvPr id="6" name="Rounded Rectangle 5"/>
          <p:cNvSpPr/>
          <p:nvPr/>
        </p:nvSpPr>
        <p:spPr>
          <a:xfrm>
            <a:off x="6126480" y="1371600"/>
            <a:ext cx="5333695"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554480"/>
            <a:ext cx="4967935" cy="3566160"/>
          </a:xfrm>
          <a:prstGeom prst="rect">
            <a:avLst/>
          </a:prstGeom>
          <a:noFill/>
        </p:spPr>
        <p:txBody>
          <a:bodyPr wrap="square">
            <a:spAutoFit/>
          </a:bodyPr>
          <a:lstStyle/>
          <a:p>
            <a:pPr>
              <a:spcAft>
                <a:spcPts val="1000"/>
              </a:spcAft>
              <a:defRPr sz="2400" b="1">
                <a:solidFill>
                  <a:srgbClr val="1E3A8A"/>
                </a:solidFill>
                <a:latin typeface="Arial"/>
              </a:defRPr>
            </a:pPr>
            <a:r>
              <a:t>Public-health &amp; regulatory context</a:t>
            </a:r>
          </a:p>
          <a:p>
            <a:pPr>
              <a:spcAft>
                <a:spcPts val="800"/>
              </a:spcAft>
              <a:defRPr sz="2000">
                <a:solidFill>
                  <a:srgbClr val="0F172A"/>
                </a:solidFill>
                <a:latin typeface="Arial"/>
              </a:defRPr>
            </a:pPr>
            <a:r>
              <a:t>• U.S. seafood guidance references internal temperature endpoints around 145°F / 63°C.</a:t>
            </a:r>
          </a:p>
          <a:p>
            <a:pPr>
              <a:spcAft>
                <a:spcPts val="800"/>
              </a:spcAft>
              <a:defRPr sz="2000">
                <a:solidFill>
                  <a:srgbClr val="0F172A"/>
                </a:solidFill>
                <a:latin typeface="Arial"/>
              </a:defRPr>
            </a:pPr>
            <a:r>
              <a:t>• EU processing rules specify 90°C for ≥90 s in mollusc flesh in specified processing contexts.</a:t>
            </a:r>
          </a:p>
          <a:p>
            <a:pPr>
              <a:spcAft>
                <a:spcPts val="800"/>
              </a:spcAft>
              <a:defRPr sz="2000">
                <a:solidFill>
                  <a:srgbClr val="0F172A"/>
                </a:solidFill>
                <a:latin typeface="Arial"/>
              </a:defRPr>
            </a:pPr>
            <a:r>
              <a:t>• Target setpoints specify the destination, not the dynamic heating trajectory.</a:t>
            </a:r>
          </a:p>
        </p:txBody>
      </p:sp>
      <p:sp>
        <p:nvSpPr>
          <p:cNvPr id="8" name="Rounded Rectangle 7"/>
          <p:cNvSpPr/>
          <p:nvPr/>
        </p:nvSpPr>
        <p:spPr>
          <a:xfrm>
            <a:off x="731520" y="5440680"/>
            <a:ext cx="10728655" cy="9601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532120"/>
            <a:ext cx="10362895" cy="777240"/>
          </a:xfrm>
          <a:prstGeom prst="rect">
            <a:avLst/>
          </a:prstGeom>
          <a:noFill/>
        </p:spPr>
        <p:txBody>
          <a:bodyPr wrap="square">
            <a:spAutoFit/>
          </a:bodyPr>
          <a:lstStyle/>
          <a:p>
            <a:pPr>
              <a:spcAft>
                <a:spcPts val="200"/>
              </a:spcAft>
              <a:defRPr sz="2200" b="1">
                <a:solidFill>
                  <a:srgbClr val="1E3A8A"/>
                </a:solidFill>
                <a:latin typeface="Arial"/>
              </a:defRPr>
            </a:pPr>
            <a:r>
              <a:t>Key Idea:</a:t>
            </a:r>
          </a:p>
          <a:p>
            <a:pPr>
              <a:defRPr sz="2000" b="1">
                <a:solidFill>
                  <a:srgbClr val="0F172A"/>
                </a:solidFill>
                <a:latin typeface="Arial"/>
              </a:defRPr>
            </a:pPr>
            <a:r>
              <a:t>Microorganisms experience the complete time–temperature trajectory T(t), not just the cooking-method label or endpoint temperature.</a:t>
            </a:r>
          </a:p>
        </p:txBody>
      </p:sp>
      <p:sp>
        <p:nvSpPr>
          <p:cNvPr id="10" name="TextBox 9"/>
          <p:cNvSpPr txBox="1"/>
          <p:nvPr/>
        </p:nvSpPr>
        <p:spPr>
          <a:xfrm>
            <a:off x="731520" y="6446520"/>
            <a:ext cx="10058400" cy="274320"/>
          </a:xfrm>
          <a:prstGeom prst="rect">
            <a:avLst/>
          </a:prstGeom>
          <a:noFill/>
        </p:spPr>
        <p:txBody>
          <a:bodyPr wrap="none">
            <a:spAutoFit/>
          </a:bodyPr>
          <a:lstStyle/>
          <a:p>
            <a:pPr>
              <a:defRPr sz="1400" i="1">
                <a:solidFill>
                  <a:srgbClr val="64748B"/>
                </a:solidFill>
                <a:latin typeface="Arial"/>
              </a:defRPr>
            </a:pPr>
            <a:r>
              <a:t>Sources: FDA Selecting and Serving Seafood Safely (145°F); Regulation (EC) No 853/2004, Annex III, Section VII (90°C for ≥90 s in specified bivalve-processing contexts).</a:t>
            </a:r>
          </a:p>
        </p:txBody>
      </p:sp>
      <p:sp>
        <p:nvSpPr>
          <p:cNvPr id="11" name="TextBox 10"/>
          <p:cNvSpPr txBox="1"/>
          <p:nvPr/>
        </p:nvSpPr>
        <p:spPr>
          <a:xfrm>
            <a:off x="10972800" y="6400800"/>
            <a:ext cx="914400" cy="320040"/>
          </a:xfrm>
          <a:prstGeom prst="rect">
            <a:avLst/>
          </a:prstGeom>
          <a:noFill/>
        </p:spPr>
        <p:txBody>
          <a:bodyPr wrap="none" lIns="0" rIns="0" tIns="0" bIns="0">
            <a:spAutoFit/>
          </a:bodyPr>
          <a:lstStyle/>
          <a:p>
            <a:pPr algn="r">
              <a:defRPr sz="1400">
                <a:solidFill>
                  <a:srgbClr val="64748B"/>
                </a:solidFill>
                <a:latin typeface="Aria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172A"/>
                </a:solidFill>
                <a:latin typeface="Arial"/>
              </a:defRPr>
            </a:pPr>
            <a:r>
              <a:t>From process conditions to risk-based decision making</a:t>
            </a:r>
          </a:p>
        </p:txBody>
      </p:sp>
      <p:sp>
        <p:nvSpPr>
          <p:cNvPr id="4" name="Rounded Rectangle 3"/>
          <p:cNvSpPr/>
          <p:nvPr/>
        </p:nvSpPr>
        <p:spPr>
          <a:xfrm>
            <a:off x="731520" y="1371600"/>
            <a:ext cx="2514600" cy="37490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554480"/>
            <a:ext cx="224028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400" b="1">
                <a:solidFill>
                  <a:srgbClr val="1E40AF"/>
                </a:solidFill>
                <a:latin typeface="Arial"/>
              </a:defRPr>
            </a:pPr>
            <a:r>
              <a:t>Completed</a:t>
            </a:r>
          </a:p>
        </p:txBody>
      </p:sp>
      <p:sp>
        <p:nvSpPr>
          <p:cNvPr id="6" name="TextBox 5"/>
          <p:cNvSpPr txBox="1"/>
          <p:nvPr/>
        </p:nvSpPr>
        <p:spPr>
          <a:xfrm>
            <a:off x="868680" y="2057400"/>
            <a:ext cx="2240280" cy="2834640"/>
          </a:xfrm>
          <a:prstGeom prst="rect">
            <a:avLst/>
          </a:prstGeom>
          <a:noFill/>
        </p:spPr>
        <p:txBody>
          <a:bodyPr wrap="square">
            <a:spAutoFit/>
          </a:bodyPr>
          <a:lstStyle/>
          <a:p>
            <a:pPr>
              <a:spcAft>
                <a:spcPts val="1000"/>
              </a:spcAft>
              <a:defRPr sz="2200" b="1">
                <a:solidFill>
                  <a:srgbClr val="1E3A8A"/>
                </a:solidFill>
                <a:latin typeface="Arial"/>
              </a:defRPr>
            </a:pPr>
            <a:r>
              <a:t>1. Process space</a:t>
            </a:r>
          </a:p>
          <a:p>
            <a:pPr>
              <a:defRPr sz="1900">
                <a:solidFill>
                  <a:srgbClr val="0F172A"/>
                </a:solidFill>
                <a:latin typeface="Arial"/>
              </a:defRPr>
            </a:pPr>
            <a:r>
              <a:t>Cooking practices + reference targets</a:t>
            </a:r>
          </a:p>
        </p:txBody>
      </p:sp>
      <p:sp>
        <p:nvSpPr>
          <p:cNvPr id="7" name="Rounded Rectangle 6"/>
          <p:cNvSpPr/>
          <p:nvPr/>
        </p:nvSpPr>
        <p:spPr>
          <a:xfrm>
            <a:off x="3465576" y="1371600"/>
            <a:ext cx="2514600" cy="37490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02736" y="1554480"/>
            <a:ext cx="224028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400" b="1">
                <a:solidFill>
                  <a:srgbClr val="1E40AF"/>
                </a:solidFill>
                <a:latin typeface="Arial"/>
              </a:defRPr>
            </a:pPr>
            <a:r>
              <a:t>Completed</a:t>
            </a:r>
          </a:p>
        </p:txBody>
      </p:sp>
      <p:sp>
        <p:nvSpPr>
          <p:cNvPr id="9" name="TextBox 8"/>
          <p:cNvSpPr txBox="1"/>
          <p:nvPr/>
        </p:nvSpPr>
        <p:spPr>
          <a:xfrm>
            <a:off x="3602736" y="2057400"/>
            <a:ext cx="2240280" cy="2834640"/>
          </a:xfrm>
          <a:prstGeom prst="rect">
            <a:avLst/>
          </a:prstGeom>
          <a:noFill/>
        </p:spPr>
        <p:txBody>
          <a:bodyPr wrap="square">
            <a:spAutoFit/>
          </a:bodyPr>
          <a:lstStyle/>
          <a:p>
            <a:pPr>
              <a:spcAft>
                <a:spcPts val="1000"/>
              </a:spcAft>
              <a:defRPr sz="2200" b="1">
                <a:solidFill>
                  <a:srgbClr val="1E3A8A"/>
                </a:solidFill>
                <a:latin typeface="Arial"/>
              </a:defRPr>
            </a:pPr>
            <a:r>
              <a:t>2. Predictive microbiology</a:t>
            </a:r>
          </a:p>
          <a:p>
            <a:pPr>
              <a:defRPr sz="1900">
                <a:solidFill>
                  <a:srgbClr val="0F172A"/>
                </a:solidFill>
                <a:latin typeface="Arial"/>
              </a:defRPr>
            </a:pPr>
            <a:r>
              <a:t>Measured T(t) + dynamic kinetics (Geeraerd model)</a:t>
            </a:r>
          </a:p>
        </p:txBody>
      </p:sp>
      <p:sp>
        <p:nvSpPr>
          <p:cNvPr id="10" name="Rounded Rectangle 9"/>
          <p:cNvSpPr/>
          <p:nvPr/>
        </p:nvSpPr>
        <p:spPr>
          <a:xfrm>
            <a:off x="6199632" y="1371600"/>
            <a:ext cx="2514600" cy="37490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36792" y="1554480"/>
            <a:ext cx="2240280" cy="347472"/>
          </a:xfrm>
          <a:prstGeom prst="roundRect">
            <a:avLst/>
          </a:prstGeom>
          <a:solidFill>
            <a:srgbClr val="FEF3C7"/>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400" b="1">
                <a:solidFill>
                  <a:srgbClr val="92400E"/>
                </a:solidFill>
                <a:latin typeface="Arial"/>
              </a:defRPr>
            </a:pPr>
            <a:r>
              <a:t>Ongoing</a:t>
            </a:r>
          </a:p>
        </p:txBody>
      </p:sp>
      <p:sp>
        <p:nvSpPr>
          <p:cNvPr id="12" name="TextBox 11"/>
          <p:cNvSpPr txBox="1"/>
          <p:nvPr/>
        </p:nvSpPr>
        <p:spPr>
          <a:xfrm>
            <a:off x="6336792" y="2057400"/>
            <a:ext cx="2240280" cy="2834640"/>
          </a:xfrm>
          <a:prstGeom prst="rect">
            <a:avLst/>
          </a:prstGeom>
          <a:noFill/>
        </p:spPr>
        <p:txBody>
          <a:bodyPr wrap="square">
            <a:spAutoFit/>
          </a:bodyPr>
          <a:lstStyle/>
          <a:p>
            <a:pPr>
              <a:spcAft>
                <a:spcPts val="1000"/>
              </a:spcAft>
              <a:defRPr sz="2200" b="1">
                <a:solidFill>
                  <a:srgbClr val="1E3A8A"/>
                </a:solidFill>
                <a:latin typeface="Arial"/>
              </a:defRPr>
            </a:pPr>
            <a:r>
              <a:t>3. Risk translation</a:t>
            </a:r>
          </a:p>
          <a:p>
            <a:pPr>
              <a:defRPr sz="1900">
                <a:solidFill>
                  <a:srgbClr val="0F172A"/>
                </a:solidFill>
                <a:latin typeface="Arial"/>
              </a:defRPr>
            </a:pPr>
            <a:r>
              <a:t>Residual dose → illness risk via QMRA</a:t>
            </a:r>
          </a:p>
        </p:txBody>
      </p:sp>
      <p:sp>
        <p:nvSpPr>
          <p:cNvPr id="13" name="Rounded Rectangle 12"/>
          <p:cNvSpPr/>
          <p:nvPr/>
        </p:nvSpPr>
        <p:spPr>
          <a:xfrm>
            <a:off x="8933688" y="1371600"/>
            <a:ext cx="2514600" cy="37490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070848" y="1554480"/>
            <a:ext cx="2240280" cy="347472"/>
          </a:xfrm>
          <a:prstGeom prst="roundRect">
            <a:avLst/>
          </a:prstGeom>
          <a:solidFill>
            <a:srgbClr val="F3E8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400" b="1">
                <a:solidFill>
                  <a:srgbClr val="6B21A8"/>
                </a:solidFill>
                <a:latin typeface="Arial"/>
              </a:defRPr>
            </a:pPr>
            <a:r>
              <a:t>Future</a:t>
            </a:r>
          </a:p>
        </p:txBody>
      </p:sp>
      <p:sp>
        <p:nvSpPr>
          <p:cNvPr id="15" name="TextBox 14"/>
          <p:cNvSpPr txBox="1"/>
          <p:nvPr/>
        </p:nvSpPr>
        <p:spPr>
          <a:xfrm>
            <a:off x="9070848" y="2057400"/>
            <a:ext cx="2240280" cy="2834640"/>
          </a:xfrm>
          <a:prstGeom prst="rect">
            <a:avLst/>
          </a:prstGeom>
          <a:noFill/>
        </p:spPr>
        <p:txBody>
          <a:bodyPr wrap="square">
            <a:spAutoFit/>
          </a:bodyPr>
          <a:lstStyle/>
          <a:p>
            <a:pPr>
              <a:spcAft>
                <a:spcPts val="1000"/>
              </a:spcAft>
              <a:defRPr sz="2200" b="1">
                <a:solidFill>
                  <a:srgbClr val="1E3A8A"/>
                </a:solidFill>
                <a:latin typeface="Arial"/>
              </a:defRPr>
            </a:pPr>
            <a:r>
              <a:t>4. Product translation</a:t>
            </a:r>
          </a:p>
          <a:p>
            <a:pPr>
              <a:defRPr sz="1900">
                <a:solidFill>
                  <a:srgbClr val="0F172A"/>
                </a:solidFill>
                <a:latin typeface="Arial"/>
              </a:defRPr>
            </a:pPr>
            <a:r>
              <a:t>Sensory quality → operating window</a:t>
            </a:r>
          </a:p>
        </p:txBody>
      </p:sp>
      <p:sp>
        <p:nvSpPr>
          <p:cNvPr id="16" name="Rounded Rectangle 15"/>
          <p:cNvSpPr/>
          <p:nvPr/>
        </p:nvSpPr>
        <p:spPr>
          <a:xfrm>
            <a:off x="731520" y="5257800"/>
            <a:ext cx="10728655" cy="11430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349240"/>
            <a:ext cx="10362895" cy="960120"/>
          </a:xfrm>
          <a:prstGeom prst="rect">
            <a:avLst/>
          </a:prstGeom>
          <a:noFill/>
        </p:spPr>
        <p:txBody>
          <a:bodyPr wrap="square">
            <a:spAutoFit/>
          </a:bodyPr>
          <a:lstStyle/>
          <a:p>
            <a:pPr>
              <a:spcAft>
                <a:spcPts val="200"/>
              </a:spcAft>
              <a:defRPr sz="2200" b="1">
                <a:solidFill>
                  <a:srgbClr val="1E3A8A"/>
                </a:solidFill>
                <a:latin typeface="Arial"/>
              </a:defRPr>
            </a:pPr>
            <a:r>
              <a:t>Stakeholder engagement &amp; project role:</a:t>
            </a:r>
          </a:p>
          <a:p>
            <a:pPr>
              <a:defRPr sz="1900">
                <a:solidFill>
                  <a:srgbClr val="334155"/>
                </a:solidFill>
                <a:latin typeface="Arial"/>
              </a:defRPr>
            </a:pPr>
            <a:r>
              <a:t>Experimental virology  ↔  predictive modeling  ↔  risk assessment  ↔  product / sensory stakeholders.</a:t>
            </a:r>
            <a:br/>
            <a:r>
              <a:t>Connected experimental evidence to a quantitative decision framework while keeping model assumptions and project milestones clear.</a:t>
            </a:r>
          </a:p>
        </p:txBody>
      </p:sp>
      <p:sp>
        <p:nvSpPr>
          <p:cNvPr id="18" name="TextBox 17"/>
          <p:cNvSpPr txBox="1"/>
          <p:nvPr/>
        </p:nvSpPr>
        <p:spPr>
          <a:xfrm>
            <a:off x="10972800" y="6400800"/>
            <a:ext cx="914400" cy="320040"/>
          </a:xfrm>
          <a:prstGeom prst="rect">
            <a:avLst/>
          </a:prstGeom>
          <a:noFill/>
        </p:spPr>
        <p:txBody>
          <a:bodyPr wrap="none" lIns="0" rIns="0" tIns="0" bIns="0">
            <a:spAutoFit/>
          </a:bodyPr>
          <a:lstStyle/>
          <a:p>
            <a:pPr algn="r">
              <a:defRPr sz="1400">
                <a:solidFill>
                  <a:srgbClr val="64748B"/>
                </a:solidFill>
                <a:latin typeface="Aria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172A"/>
                </a:solidFill>
                <a:latin typeface="Arial"/>
              </a:defRPr>
            </a:pPr>
            <a:r>
              <a:t>Building an oyster-specific dynamic thermal model</a:t>
            </a:r>
          </a:p>
        </p:txBody>
      </p:sp>
      <p:sp>
        <p:nvSpPr>
          <p:cNvPr id="4" name="Rounded Rectangle 3"/>
          <p:cNvSpPr/>
          <p:nvPr/>
        </p:nvSpPr>
        <p:spPr>
          <a:xfrm>
            <a:off x="731520" y="1371600"/>
            <a:ext cx="493776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572000" cy="4572000"/>
          </a:xfrm>
          <a:prstGeom prst="rect">
            <a:avLst/>
          </a:prstGeom>
          <a:noFill/>
        </p:spPr>
        <p:txBody>
          <a:bodyPr wrap="square">
            <a:spAutoFit/>
          </a:bodyPr>
          <a:lstStyle/>
          <a:p>
            <a:pPr>
              <a:spcAft>
                <a:spcPts val="1000"/>
              </a:spcAft>
              <a:defRPr sz="2400" b="1">
                <a:solidFill>
                  <a:srgbClr val="1E3A8A"/>
                </a:solidFill>
                <a:latin typeface="Arial"/>
              </a:defRPr>
            </a:pPr>
            <a:r>
              <a:t>Experimental foundation</a:t>
            </a:r>
          </a:p>
          <a:p>
            <a:pPr>
              <a:spcAft>
                <a:spcPts val="600"/>
              </a:spcAft>
              <a:defRPr sz="1900">
                <a:solidFill>
                  <a:srgbClr val="0F172A"/>
                </a:solidFill>
                <a:latin typeface="Arial"/>
              </a:defRPr>
            </a:pPr>
            <a:r>
              <a:t>• Matrix: Oyster digestive diverticula as the high-risk tissue matrix.</a:t>
            </a:r>
          </a:p>
          <a:p>
            <a:pPr>
              <a:spcAft>
                <a:spcPts val="600"/>
              </a:spcAft>
              <a:defRPr sz="1900">
                <a:solidFill>
                  <a:srgbClr val="0F172A"/>
                </a:solidFill>
                <a:latin typeface="Arial"/>
              </a:defRPr>
            </a:pPr>
            <a:r>
              <a:t>• Surrogate: Tulane virus (TuV) as a cultivable norovirus surrogate.</a:t>
            </a:r>
          </a:p>
          <a:p>
            <a:pPr>
              <a:spcAft>
                <a:spcPts val="600"/>
              </a:spcAft>
              <a:defRPr sz="1900">
                <a:solidFill>
                  <a:srgbClr val="0F172A"/>
                </a:solidFill>
                <a:latin typeface="Arial"/>
              </a:defRPr>
            </a:pPr>
            <a:r>
              <a:t>• Heating: Non-isothermal heating at 50–63°C with internal T(t) recorded.</a:t>
            </a:r>
          </a:p>
          <a:p>
            <a:pPr>
              <a:spcAft>
                <a:spcPts val="600"/>
              </a:spcAft>
              <a:defRPr sz="1900">
                <a:solidFill>
                  <a:srgbClr val="0F172A"/>
                </a:solidFill>
                <a:latin typeface="Arial"/>
              </a:defRPr>
            </a:pPr>
            <a:r>
              <a:t>• Assays: Plaque assay for infectious virus reduction &amp; RNase RT-qPCR for capsid integrity.</a:t>
            </a:r>
          </a:p>
          <a:p>
            <a:pPr>
              <a:spcAft>
                <a:spcPts val="600"/>
              </a:spcAft>
              <a:defRPr sz="1900">
                <a:solidFill>
                  <a:srgbClr val="0F172A"/>
                </a:solidFill>
                <a:latin typeface="Arial"/>
              </a:defRPr>
            </a:pPr>
            <a:r>
              <a:t>• Why dynamic data matter: Come-up time is part of the thermal exposure; excluding it can distort estimated kinetics.</a:t>
            </a:r>
          </a:p>
        </p:txBody>
      </p:sp>
      <p:sp>
        <p:nvSpPr>
          <p:cNvPr id="6" name="Rounded Rectangle 5"/>
          <p:cNvSpPr/>
          <p:nvPr/>
        </p:nvSpPr>
        <p:spPr>
          <a:xfrm>
            <a:off x="5852160" y="1371600"/>
            <a:ext cx="5608015"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6035040" y="1554480"/>
            <a:ext cx="5242255" cy="4324350"/>
          </a:xfrm>
          <a:prstGeom prst="rect">
            <a:avLst/>
          </a:prstGeom>
        </p:spPr>
      </p:pic>
      <p:sp>
        <p:nvSpPr>
          <p:cNvPr id="8" name="TextBox 7"/>
          <p:cNvSpPr txBox="1"/>
          <p:nvPr/>
        </p:nvSpPr>
        <p:spPr>
          <a:xfrm>
            <a:off x="6035040" y="5623560"/>
            <a:ext cx="5242255" cy="548640"/>
          </a:xfrm>
          <a:prstGeom prst="rect">
            <a:avLst/>
          </a:prstGeom>
          <a:noFill/>
        </p:spPr>
        <p:txBody>
          <a:bodyPr wrap="square">
            <a:spAutoFit/>
          </a:bodyPr>
          <a:lstStyle/>
          <a:p>
            <a:pPr>
              <a:defRPr sz="1500" i="1">
                <a:solidFill>
                  <a:srgbClr val="64748B"/>
                </a:solidFill>
                <a:latin typeface="Arial"/>
              </a:defRPr>
            </a:pPr>
            <a:r>
              <a:t>Measured internal time–temperature profiles in oyster digestive diverticula (Dicker et al., submitted to International Journal of Food Microbiology).</a:t>
            </a:r>
          </a:p>
        </p:txBody>
      </p:sp>
      <p:sp>
        <p:nvSpPr>
          <p:cNvPr id="9" name="TextBox 8"/>
          <p:cNvSpPr txBox="1"/>
          <p:nvPr/>
        </p:nvSpPr>
        <p:spPr>
          <a:xfrm>
            <a:off x="10972800" y="6400800"/>
            <a:ext cx="914400" cy="320040"/>
          </a:xfrm>
          <a:prstGeom prst="rect">
            <a:avLst/>
          </a:prstGeom>
          <a:noFill/>
        </p:spPr>
        <p:txBody>
          <a:bodyPr wrap="none" lIns="0" rIns="0" tIns="0" bIns="0">
            <a:spAutoFit/>
          </a:bodyPr>
          <a:lstStyle/>
          <a:p>
            <a:pPr algn="r">
              <a:defRPr sz="1400">
                <a:solidFill>
                  <a:srgbClr val="64748B"/>
                </a:solidFill>
                <a:latin typeface="Aria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172A"/>
                </a:solidFill>
                <a:latin typeface="Arial"/>
              </a:defRPr>
            </a:pPr>
            <a:r>
              <a:t>Dynamic modeling revealed matrix-dependent thermal resistance</a:t>
            </a:r>
          </a:p>
        </p:txBody>
      </p:sp>
      <p:sp>
        <p:nvSpPr>
          <p:cNvPr id="4" name="Rounded Rectangle 3"/>
          <p:cNvSpPr/>
          <p:nvPr/>
        </p:nvSpPr>
        <p:spPr>
          <a:xfrm>
            <a:off x="731520" y="1325880"/>
            <a:ext cx="10728655"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868680" y="1371600"/>
            <a:ext cx="10454335" cy="2475260"/>
          </a:xfrm>
          <a:prstGeom prst="rect">
            <a:avLst/>
          </a:prstGeom>
        </p:spPr>
      </p:pic>
      <p:sp>
        <p:nvSpPr>
          <p:cNvPr id="6" name="TextBox 5"/>
          <p:cNvSpPr txBox="1"/>
          <p:nvPr/>
        </p:nvSpPr>
        <p:spPr>
          <a:xfrm>
            <a:off x="868680" y="3108960"/>
            <a:ext cx="10424160" cy="274320"/>
          </a:xfrm>
          <a:prstGeom prst="rect">
            <a:avLst/>
          </a:prstGeom>
          <a:noFill/>
        </p:spPr>
        <p:txBody>
          <a:bodyPr wrap="square">
            <a:spAutoFit/>
          </a:bodyPr>
          <a:lstStyle/>
          <a:p>
            <a:pPr>
              <a:defRPr sz="1500" i="1">
                <a:solidFill>
                  <a:srgbClr val="64748B"/>
                </a:solidFill>
                <a:latin typeface="Arial"/>
              </a:defRPr>
            </a:pPr>
            <a:r>
              <a:t>TuV infectivity in oyster digestive diverticula; blue line = selected Geeraerd model, gray dashed line = measured T(t) (Dicker et al., submitted).</a:t>
            </a:r>
          </a:p>
        </p:txBody>
      </p:sp>
      <p:sp>
        <p:nvSpPr>
          <p:cNvPr id="7" name="Rounded Rectangle 6"/>
          <p:cNvSpPr/>
          <p:nvPr/>
        </p:nvSpPr>
        <p:spPr>
          <a:xfrm>
            <a:off x="731520" y="3474720"/>
            <a:ext cx="5120640" cy="2834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566160"/>
            <a:ext cx="4754880" cy="2651760"/>
          </a:xfrm>
          <a:prstGeom prst="rect">
            <a:avLst/>
          </a:prstGeom>
          <a:noFill/>
        </p:spPr>
        <p:txBody>
          <a:bodyPr wrap="square">
            <a:spAutoFit/>
          </a:bodyPr>
          <a:lstStyle/>
          <a:p>
            <a:pPr>
              <a:spcAft>
                <a:spcPts val="600"/>
              </a:spcAft>
              <a:defRPr sz="2400" b="1">
                <a:solidFill>
                  <a:srgbClr val="1E3A8A"/>
                </a:solidFill>
                <a:latin typeface="Arial"/>
              </a:defRPr>
            </a:pPr>
            <a:r>
              <a:t>Model selection</a:t>
            </a:r>
          </a:p>
          <a:p>
            <a:pPr>
              <a:spcAft>
                <a:spcPts val="600"/>
              </a:spcAft>
              <a:defRPr sz="1900">
                <a:solidFill>
                  <a:srgbClr val="0F172A"/>
                </a:solidFill>
                <a:latin typeface="Arial"/>
              </a:defRPr>
            </a:pPr>
            <a:r>
              <a:t>• Candidate models: Bigelow log-linear, Geeraerd, Weibull-type alternatives.</a:t>
            </a:r>
          </a:p>
          <a:p>
            <a:pPr>
              <a:spcAft>
                <a:spcPts val="600"/>
              </a:spcAft>
              <a:defRPr sz="1900">
                <a:solidFill>
                  <a:srgbClr val="0F172A"/>
                </a:solidFill>
                <a:latin typeface="Arial"/>
              </a:defRPr>
            </a:pPr>
            <a:r>
              <a:t>• Selection rationale: Prioritized fit, convergence, parameter stability, and interpretability over AICc alone.</a:t>
            </a:r>
          </a:p>
          <a:p>
            <a:pPr>
              <a:spcAft>
                <a:spcPts val="600"/>
              </a:spcAft>
              <a:defRPr sz="1900">
                <a:solidFill>
                  <a:srgbClr val="0F172A"/>
                </a:solidFill>
                <a:latin typeface="Arial"/>
              </a:defRPr>
            </a:pPr>
            <a:r>
              <a:t>• Selected: Geeraerd model without shoulder + Bigelow-style D(T) relationship.</a:t>
            </a:r>
          </a:p>
        </p:txBody>
      </p:sp>
      <p:sp>
        <p:nvSpPr>
          <p:cNvPr id="9" name="Rounded Rectangle 8"/>
          <p:cNvSpPr/>
          <p:nvPr/>
        </p:nvSpPr>
        <p:spPr>
          <a:xfrm>
            <a:off x="6035040" y="3474720"/>
            <a:ext cx="5425135" cy="2834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3566160"/>
            <a:ext cx="5029200" cy="320040"/>
          </a:xfrm>
          <a:prstGeom prst="rect">
            <a:avLst/>
          </a:prstGeom>
          <a:noFill/>
        </p:spPr>
        <p:txBody>
          <a:bodyPr wrap="square">
            <a:spAutoFit/>
          </a:bodyPr>
          <a:lstStyle/>
          <a:p>
            <a:pPr>
              <a:defRPr sz="2200" b="1">
                <a:solidFill>
                  <a:srgbClr val="1E3A8A"/>
                </a:solidFill>
                <a:latin typeface="Arial"/>
              </a:defRPr>
            </a:pPr>
            <a:r>
              <a:t>Parameter estimates at Tref = 57°C</a:t>
            </a:r>
          </a:p>
        </p:txBody>
      </p:sp>
      <p:graphicFrame>
        <p:nvGraphicFramePr>
          <p:cNvPr id="11" name="Table 10"/>
          <p:cNvGraphicFramePr>
            <a:graphicFrameLocks noGrp="1"/>
          </p:cNvGraphicFramePr>
          <p:nvPr/>
        </p:nvGraphicFramePr>
        <p:xfrm>
          <a:off x="6217920" y="3931920"/>
          <a:ext cx="5059375" cy="1188720"/>
        </p:xfrm>
        <a:graphic>
          <a:graphicData uri="http://schemas.openxmlformats.org/drawingml/2006/table">
            <a:tbl>
              <a:tblPr firstRow="1" bandRow="1">
                <a:tableStyleId>{5C22544A-7EE6-4342-B048-85BDC9FD1C3A}</a:tableStyleId>
              </a:tblPr>
              <a:tblGrid>
                <a:gridCol w="1493215"/>
                <a:gridCol w="1188720"/>
                <a:gridCol w="1188720"/>
                <a:gridCol w="1188720"/>
              </a:tblGrid>
              <a:tr h="396240">
                <a:tc>
                  <a:txBody>
                    <a:bodyPr/>
                    <a:lstStyle/>
                    <a:p>
                      <a:pPr algn="ctr">
                        <a:defRPr sz="1800" b="1">
                          <a:solidFill>
                            <a:srgbClr val="FFFFFF"/>
                          </a:solidFill>
                          <a:latin typeface="Arial"/>
                        </a:defRPr>
                      </a:pPr>
                      <a:r>
                        <a:t>Matrix</a:t>
                      </a:r>
                    </a:p>
                  </a:txBody>
                  <a:tcPr>
                    <a:solidFill>
                      <a:srgbClr val="1E3A8A"/>
                    </a:solidFill>
                  </a:tcPr>
                </a:tc>
                <a:tc>
                  <a:txBody>
                    <a:bodyPr/>
                    <a:lstStyle/>
                    <a:p>
                      <a:pPr algn="ctr">
                        <a:defRPr sz="1800" b="1">
                          <a:solidFill>
                            <a:srgbClr val="FFFFFF"/>
                          </a:solidFill>
                          <a:latin typeface="Arial"/>
                        </a:defRPr>
                      </a:pPr>
                      <a:r>
                        <a:t>D57 (min)</a:t>
                      </a:r>
                    </a:p>
                  </a:txBody>
                  <a:tcPr>
                    <a:solidFill>
                      <a:srgbClr val="1E3A8A"/>
                    </a:solidFill>
                  </a:tcPr>
                </a:tc>
                <a:tc>
                  <a:txBody>
                    <a:bodyPr/>
                    <a:lstStyle/>
                    <a:p>
                      <a:pPr algn="ctr">
                        <a:defRPr sz="1800" b="1">
                          <a:solidFill>
                            <a:srgbClr val="FFFFFF"/>
                          </a:solidFill>
                          <a:latin typeface="Arial"/>
                        </a:defRPr>
                      </a:pPr>
                      <a:r>
                        <a:t>z (°C)</a:t>
                      </a:r>
                    </a:p>
                  </a:txBody>
                  <a:tcPr>
                    <a:solidFill>
                      <a:srgbClr val="1E3A8A"/>
                    </a:solidFill>
                  </a:tcPr>
                </a:tc>
                <a:tc>
                  <a:txBody>
                    <a:bodyPr/>
                    <a:lstStyle/>
                    <a:p>
                      <a:pPr algn="ctr">
                        <a:defRPr sz="1800" b="1">
                          <a:solidFill>
                            <a:srgbClr val="FFFFFF"/>
                          </a:solidFill>
                          <a:latin typeface="Arial"/>
                        </a:defRPr>
                      </a:pPr>
                      <a:r>
                        <a:t>log10 Nres</a:t>
                      </a:r>
                    </a:p>
                  </a:txBody>
                  <a:tcPr>
                    <a:solidFill>
                      <a:srgbClr val="1E3A8A"/>
                    </a:solidFill>
                  </a:tcPr>
                </a:tc>
              </a:tr>
              <a:tr h="396240">
                <a:tc>
                  <a:txBody>
                    <a:bodyPr/>
                    <a:lstStyle/>
                    <a:p>
                      <a:pPr algn="l">
                        <a:defRPr sz="1700" b="1">
                          <a:solidFill>
                            <a:srgbClr val="0F172A"/>
                          </a:solidFill>
                          <a:latin typeface="Arial"/>
                        </a:defRPr>
                      </a:pPr>
                      <a:r>
                        <a:t>PBS</a:t>
                      </a:r>
                    </a:p>
                  </a:txBody>
                  <a:tcPr>
                    <a:solidFill>
                      <a:srgbClr val="F1F5F9"/>
                    </a:solidFill>
                  </a:tcPr>
                </a:tc>
                <a:tc>
                  <a:txBody>
                    <a:bodyPr/>
                    <a:lstStyle/>
                    <a:p>
                      <a:pPr algn="ctr">
                        <a:defRPr sz="1700">
                          <a:solidFill>
                            <a:srgbClr val="0F172A"/>
                          </a:solidFill>
                          <a:latin typeface="Arial"/>
                        </a:defRPr>
                      </a:pPr>
                      <a:r>
                        <a:t>1.16 [0.82, 1.63]</a:t>
                      </a:r>
                    </a:p>
                  </a:txBody>
                  <a:tcPr>
                    <a:solidFill>
                      <a:srgbClr val="F1F5F9"/>
                    </a:solidFill>
                  </a:tcPr>
                </a:tc>
                <a:tc>
                  <a:txBody>
                    <a:bodyPr/>
                    <a:lstStyle/>
                    <a:p>
                      <a:pPr algn="ctr">
                        <a:defRPr sz="1700">
                          <a:solidFill>
                            <a:srgbClr val="0F172A"/>
                          </a:solidFill>
                          <a:latin typeface="Arial"/>
                        </a:defRPr>
                      </a:pPr>
                      <a:r>
                        <a:t>4.03 [3.28, 5.22]</a:t>
                      </a:r>
                    </a:p>
                  </a:txBody>
                  <a:tcPr>
                    <a:solidFill>
                      <a:srgbClr val="F1F5F9"/>
                    </a:solidFill>
                  </a:tcPr>
                </a:tc>
                <a:tc>
                  <a:txBody>
                    <a:bodyPr/>
                    <a:lstStyle/>
                    <a:p>
                      <a:pPr algn="ctr">
                        <a:defRPr sz="1700">
                          <a:solidFill>
                            <a:srgbClr val="0F172A"/>
                          </a:solidFill>
                          <a:latin typeface="Arial"/>
                        </a:defRPr>
                      </a:pPr>
                      <a:r>
                        <a:t>1.61 [0.93, 2.29]</a:t>
                      </a:r>
                    </a:p>
                  </a:txBody>
                  <a:tcPr>
                    <a:solidFill>
                      <a:srgbClr val="F1F5F9"/>
                    </a:solidFill>
                  </a:tcPr>
                </a:tc>
              </a:tr>
              <a:tr h="396240">
                <a:tc>
                  <a:txBody>
                    <a:bodyPr/>
                    <a:lstStyle/>
                    <a:p>
                      <a:pPr algn="l">
                        <a:defRPr sz="1700" b="1">
                          <a:solidFill>
                            <a:srgbClr val="0F172A"/>
                          </a:solidFill>
                          <a:latin typeface="Arial"/>
                        </a:defRPr>
                      </a:pPr>
                      <a:r>
                        <a:t>Oyster tissue</a:t>
                      </a:r>
                    </a:p>
                  </a:txBody>
                  <a:tcPr>
                    <a:solidFill>
                      <a:srgbClr val="FFFFFF"/>
                    </a:solidFill>
                  </a:tcPr>
                </a:tc>
                <a:tc>
                  <a:txBody>
                    <a:bodyPr/>
                    <a:lstStyle/>
                    <a:p>
                      <a:pPr algn="ctr">
                        <a:defRPr sz="1700">
                          <a:solidFill>
                            <a:srgbClr val="0F172A"/>
                          </a:solidFill>
                          <a:latin typeface="Arial"/>
                        </a:defRPr>
                      </a:pPr>
                      <a:r>
                        <a:t>7.88 [5.32, 9.83]</a:t>
                      </a:r>
                    </a:p>
                  </a:txBody>
                  <a:tcPr>
                    <a:solidFill>
                      <a:srgbClr val="FFFFFF"/>
                    </a:solidFill>
                  </a:tcPr>
                </a:tc>
                <a:tc>
                  <a:txBody>
                    <a:bodyPr/>
                    <a:lstStyle/>
                    <a:p>
                      <a:pPr algn="ctr">
                        <a:defRPr sz="1700">
                          <a:solidFill>
                            <a:srgbClr val="0F172A"/>
                          </a:solidFill>
                          <a:latin typeface="Arial"/>
                        </a:defRPr>
                      </a:pPr>
                      <a:r>
                        <a:t>8.65 [3.73, 12.54]</a:t>
                      </a:r>
                    </a:p>
                  </a:txBody>
                  <a:tcPr>
                    <a:solidFill>
                      <a:srgbClr val="FFFFFF"/>
                    </a:solidFill>
                  </a:tcPr>
                </a:tc>
                <a:tc>
                  <a:txBody>
                    <a:bodyPr/>
                    <a:lstStyle/>
                    <a:p>
                      <a:pPr algn="ctr">
                        <a:defRPr sz="1700">
                          <a:solidFill>
                            <a:srgbClr val="0F172A"/>
                          </a:solidFill>
                          <a:latin typeface="Arial"/>
                        </a:defRPr>
                      </a:pPr>
                      <a:r>
                        <a:t>0.74 [0.09, 1.39]</a:t>
                      </a:r>
                    </a:p>
                  </a:txBody>
                  <a:tcPr>
                    <a:solidFill>
                      <a:srgbClr val="FFFFFF"/>
                    </a:solidFill>
                  </a:tcPr>
                </a:tc>
              </a:tr>
            </a:tbl>
          </a:graphicData>
        </a:graphic>
      </p:graphicFrame>
      <p:sp>
        <p:nvSpPr>
          <p:cNvPr id="12" name="Rounded Rectangle 11"/>
          <p:cNvSpPr/>
          <p:nvPr/>
        </p:nvSpPr>
        <p:spPr>
          <a:xfrm>
            <a:off x="6217920" y="5257800"/>
            <a:ext cx="5059375" cy="96012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5303520"/>
            <a:ext cx="4876495" cy="868680"/>
          </a:xfrm>
          <a:prstGeom prst="rect">
            <a:avLst/>
          </a:prstGeom>
          <a:noFill/>
        </p:spPr>
        <p:txBody>
          <a:bodyPr wrap="square">
            <a:spAutoFit/>
          </a:bodyPr>
          <a:lstStyle/>
          <a:p>
            <a:pPr>
              <a:spcAft>
                <a:spcPts val="200"/>
              </a:spcAft>
              <a:defRPr sz="2000" b="1">
                <a:solidFill>
                  <a:srgbClr val="B91C1C"/>
                </a:solidFill>
                <a:latin typeface="Arial"/>
              </a:defRPr>
            </a:pPr>
            <a:r>
              <a:t>Completed outcome:</a:t>
            </a:r>
          </a:p>
          <a:p>
            <a:pPr>
              <a:defRPr sz="1900" b="1">
                <a:solidFill>
                  <a:srgbClr val="0F172A"/>
                </a:solidFill>
                <a:latin typeface="Arial"/>
              </a:defRPr>
            </a:pPr>
            <a:r>
              <a:t>Oyster tissue increased apparent TuV thermal resistance by ~6.8× at 57°C.</a:t>
            </a:r>
          </a:p>
        </p:txBody>
      </p:sp>
      <p:sp>
        <p:nvSpPr>
          <p:cNvPr id="14" name="TextBox 13"/>
          <p:cNvSpPr txBox="1"/>
          <p:nvPr/>
        </p:nvSpPr>
        <p:spPr>
          <a:xfrm>
            <a:off x="10972800" y="6400800"/>
            <a:ext cx="914400" cy="320040"/>
          </a:xfrm>
          <a:prstGeom prst="rect">
            <a:avLst/>
          </a:prstGeom>
          <a:noFill/>
        </p:spPr>
        <p:txBody>
          <a:bodyPr wrap="none" lIns="0" rIns="0" tIns="0" bIns="0">
            <a:spAutoFit/>
          </a:bodyPr>
          <a:lstStyle/>
          <a:p>
            <a:pPr algn="r">
              <a:defRPr sz="1400">
                <a:solidFill>
                  <a:srgbClr val="64748B"/>
                </a:solidFill>
                <a:latin typeface="Aria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172A"/>
                </a:solidFill>
                <a:latin typeface="Arial"/>
              </a:defRPr>
            </a:pPr>
            <a:r>
              <a:t>The key translational challenge: setpoint ≠ microbial exposure</a:t>
            </a:r>
          </a:p>
        </p:txBody>
      </p:sp>
      <p:sp>
        <p:nvSpPr>
          <p:cNvPr id="4" name="Rounded Rectangle 3"/>
          <p:cNvSpPr/>
          <p:nvPr/>
        </p:nvSpPr>
        <p:spPr>
          <a:xfrm>
            <a:off x="731520" y="1371600"/>
            <a:ext cx="512064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4754880" cy="1645920"/>
          </a:xfrm>
          <a:prstGeom prst="rect">
            <a:avLst/>
          </a:prstGeom>
          <a:noFill/>
        </p:spPr>
        <p:txBody>
          <a:bodyPr wrap="square">
            <a:spAutoFit/>
          </a:bodyPr>
          <a:lstStyle/>
          <a:p>
            <a:pPr>
              <a:spcAft>
                <a:spcPts val="600"/>
              </a:spcAft>
              <a:defRPr sz="2400" b="1">
                <a:solidFill>
                  <a:srgbClr val="1E3A8A"/>
                </a:solidFill>
                <a:latin typeface="Arial"/>
              </a:defRPr>
            </a:pPr>
            <a:r>
              <a:t>Challenge 1</a:t>
            </a:r>
          </a:p>
          <a:p>
            <a:pPr>
              <a:defRPr sz="2000">
                <a:solidFill>
                  <a:srgbClr val="0F172A"/>
                </a:solidFill>
                <a:latin typeface="Arial"/>
              </a:defRPr>
            </a:pPr>
            <a:r>
              <a:t>An early plateau can look like a biological shoulder, but it may simply overlap with the come-up phase.</a:t>
            </a:r>
          </a:p>
        </p:txBody>
      </p:sp>
      <p:sp>
        <p:nvSpPr>
          <p:cNvPr id="6" name="Rounded Rectangle 5"/>
          <p:cNvSpPr/>
          <p:nvPr/>
        </p:nvSpPr>
        <p:spPr>
          <a:xfrm>
            <a:off x="6126480" y="1371600"/>
            <a:ext cx="533369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463040"/>
            <a:ext cx="4967935" cy="1645920"/>
          </a:xfrm>
          <a:prstGeom prst="rect">
            <a:avLst/>
          </a:prstGeom>
          <a:noFill/>
        </p:spPr>
        <p:txBody>
          <a:bodyPr wrap="square">
            <a:spAutoFit/>
          </a:bodyPr>
          <a:lstStyle/>
          <a:p>
            <a:pPr>
              <a:spcAft>
                <a:spcPts val="600"/>
              </a:spcAft>
              <a:defRPr sz="2400" b="1">
                <a:solidFill>
                  <a:srgbClr val="0D9488"/>
                </a:solidFill>
                <a:latin typeface="Arial"/>
              </a:defRPr>
            </a:pPr>
            <a:r>
              <a:t>Strategy 1</a:t>
            </a:r>
          </a:p>
          <a:p>
            <a:pPr>
              <a:defRPr sz="2000">
                <a:solidFill>
                  <a:srgbClr val="0F172A"/>
                </a:solidFill>
                <a:latin typeface="Arial"/>
              </a:defRPr>
            </a:pPr>
            <a:r>
              <a:t>Use the complete measured T(t) so physical heat transfer is not misread as microbial resistance.</a:t>
            </a:r>
          </a:p>
        </p:txBody>
      </p:sp>
      <p:sp>
        <p:nvSpPr>
          <p:cNvPr id="8" name="Rounded Rectangle 7"/>
          <p:cNvSpPr/>
          <p:nvPr/>
        </p:nvSpPr>
        <p:spPr>
          <a:xfrm>
            <a:off x="731520" y="3383280"/>
            <a:ext cx="10728655"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74720"/>
            <a:ext cx="10362895" cy="365760"/>
          </a:xfrm>
          <a:prstGeom prst="rect">
            <a:avLst/>
          </a:prstGeom>
          <a:noFill/>
        </p:spPr>
        <p:txBody>
          <a:bodyPr wrap="square">
            <a:spAutoFit/>
          </a:bodyPr>
          <a:lstStyle/>
          <a:p>
            <a:pPr>
              <a:defRPr sz="2400" b="1">
                <a:solidFill>
                  <a:srgbClr val="1E3A8A"/>
                </a:solidFill>
                <a:latin typeface="Arial"/>
              </a:defRPr>
            </a:pPr>
            <a:r>
              <a:t>Translation to cooking conditions</a:t>
            </a:r>
          </a:p>
        </p:txBody>
      </p:sp>
      <p:sp>
        <p:nvSpPr>
          <p:cNvPr id="10" name="Rounded Rectangle 9"/>
          <p:cNvSpPr/>
          <p:nvPr/>
        </p:nvSpPr>
        <p:spPr>
          <a:xfrm>
            <a:off x="914400" y="3931920"/>
            <a:ext cx="2286000" cy="1188720"/>
          </a:xfrm>
          <a:prstGeom prst="roundRect">
            <a:avLst/>
          </a:prstGeom>
          <a:solidFill>
            <a:srgbClr val="F1F5F9"/>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05072"/>
            <a:ext cx="2103120" cy="1005840"/>
          </a:xfrm>
          <a:prstGeom prst="rect">
            <a:avLst/>
          </a:prstGeom>
          <a:noFill/>
        </p:spPr>
        <p:txBody>
          <a:bodyPr wrap="square">
            <a:spAutoFit/>
          </a:bodyPr>
          <a:lstStyle/>
          <a:p>
            <a:pPr>
              <a:spcAft>
                <a:spcPts val="400"/>
              </a:spcAft>
              <a:defRPr sz="1900" b="1">
                <a:solidFill>
                  <a:srgbClr val="1E3A8A"/>
                </a:solidFill>
                <a:latin typeface="Arial"/>
              </a:defRPr>
            </a:pPr>
            <a:r>
              <a:t>Controlled kinetics</a:t>
            </a:r>
          </a:p>
          <a:p>
            <a:pPr>
              <a:defRPr sz="1700">
                <a:solidFill>
                  <a:srgbClr val="0F172A"/>
                </a:solidFill>
                <a:latin typeface="Arial"/>
              </a:defRPr>
            </a:pPr>
            <a:r>
              <a:t>estimate D57, z, Nres</a:t>
            </a:r>
          </a:p>
        </p:txBody>
      </p:sp>
      <p:sp>
        <p:nvSpPr>
          <p:cNvPr id="12" name="Rounded Rectangle 11"/>
          <p:cNvSpPr/>
          <p:nvPr/>
        </p:nvSpPr>
        <p:spPr>
          <a:xfrm>
            <a:off x="3520440" y="3931920"/>
            <a:ext cx="2286000" cy="1188720"/>
          </a:xfrm>
          <a:prstGeom prst="roundRect">
            <a:avLst/>
          </a:prstGeom>
          <a:solidFill>
            <a:srgbClr val="F1F5F9"/>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4005072"/>
            <a:ext cx="2103120" cy="1005840"/>
          </a:xfrm>
          <a:prstGeom prst="rect">
            <a:avLst/>
          </a:prstGeom>
          <a:noFill/>
        </p:spPr>
        <p:txBody>
          <a:bodyPr wrap="square">
            <a:spAutoFit/>
          </a:bodyPr>
          <a:lstStyle/>
          <a:p>
            <a:pPr>
              <a:spcAft>
                <a:spcPts val="400"/>
              </a:spcAft>
              <a:defRPr sz="1900" b="1">
                <a:solidFill>
                  <a:srgbClr val="1E3A8A"/>
                </a:solidFill>
                <a:latin typeface="Arial"/>
              </a:defRPr>
            </a:pPr>
            <a:r>
              <a:t>Whole-oyster process</a:t>
            </a:r>
          </a:p>
          <a:p>
            <a:pPr>
              <a:defRPr sz="1700">
                <a:solidFill>
                  <a:srgbClr val="0F172A"/>
                </a:solidFill>
                <a:latin typeface="Arial"/>
              </a:defRPr>
            </a:pPr>
            <a:r>
              <a:t>measure internal T(t)</a:t>
            </a:r>
          </a:p>
        </p:txBody>
      </p:sp>
      <p:sp>
        <p:nvSpPr>
          <p:cNvPr id="14" name="Rounded Rectangle 13"/>
          <p:cNvSpPr/>
          <p:nvPr/>
        </p:nvSpPr>
        <p:spPr>
          <a:xfrm>
            <a:off x="6126480" y="3931920"/>
            <a:ext cx="2286000" cy="1188720"/>
          </a:xfrm>
          <a:prstGeom prst="roundRect">
            <a:avLst/>
          </a:prstGeom>
          <a:solidFill>
            <a:srgbClr val="F1F5F9"/>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4005072"/>
            <a:ext cx="2103120" cy="1005840"/>
          </a:xfrm>
          <a:prstGeom prst="rect">
            <a:avLst/>
          </a:prstGeom>
          <a:noFill/>
        </p:spPr>
        <p:txBody>
          <a:bodyPr wrap="square">
            <a:spAutoFit/>
          </a:bodyPr>
          <a:lstStyle/>
          <a:p>
            <a:pPr>
              <a:spcAft>
                <a:spcPts val="400"/>
              </a:spcAft>
              <a:defRPr sz="1900" b="1">
                <a:solidFill>
                  <a:srgbClr val="1E3A8A"/>
                </a:solidFill>
                <a:latin typeface="Arial"/>
              </a:defRPr>
            </a:pPr>
            <a:r>
              <a:t>Dynamic integration</a:t>
            </a:r>
          </a:p>
          <a:p>
            <a:pPr>
              <a:defRPr sz="1700">
                <a:solidFill>
                  <a:srgbClr val="0F172A"/>
                </a:solidFill>
                <a:latin typeface="Arial"/>
              </a:defRPr>
            </a:pPr>
            <a:r>
              <a:t>predict log reduction</a:t>
            </a:r>
          </a:p>
        </p:txBody>
      </p:sp>
      <p:sp>
        <p:nvSpPr>
          <p:cNvPr id="16" name="Rounded Rectangle 15"/>
          <p:cNvSpPr/>
          <p:nvPr/>
        </p:nvSpPr>
        <p:spPr>
          <a:xfrm>
            <a:off x="8732520" y="3931920"/>
            <a:ext cx="2286000" cy="1188720"/>
          </a:xfrm>
          <a:prstGeom prst="roundRect">
            <a:avLst/>
          </a:prstGeom>
          <a:solidFill>
            <a:srgbClr val="F1F5F9"/>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23960" y="4005072"/>
            <a:ext cx="2103120" cy="1005840"/>
          </a:xfrm>
          <a:prstGeom prst="rect">
            <a:avLst/>
          </a:prstGeom>
          <a:noFill/>
        </p:spPr>
        <p:txBody>
          <a:bodyPr wrap="square">
            <a:spAutoFit/>
          </a:bodyPr>
          <a:lstStyle/>
          <a:p>
            <a:pPr>
              <a:spcAft>
                <a:spcPts val="400"/>
              </a:spcAft>
              <a:defRPr sz="1900" b="1">
                <a:solidFill>
                  <a:srgbClr val="1E3A8A"/>
                </a:solidFill>
                <a:latin typeface="Arial"/>
              </a:defRPr>
            </a:pPr>
            <a:r>
              <a:t>QMRA</a:t>
            </a:r>
          </a:p>
          <a:p>
            <a:pPr>
              <a:defRPr sz="1700">
                <a:solidFill>
                  <a:srgbClr val="0F172A"/>
                </a:solidFill>
                <a:latin typeface="Arial"/>
              </a:defRPr>
            </a:pPr>
            <a:r>
              <a:t>translate to risk</a:t>
            </a:r>
          </a:p>
        </p:txBody>
      </p:sp>
      <p:sp>
        <p:nvSpPr>
          <p:cNvPr id="18" name="Rounded Rectangle 17"/>
          <p:cNvSpPr/>
          <p:nvPr/>
        </p:nvSpPr>
        <p:spPr>
          <a:xfrm>
            <a:off x="731520" y="5532120"/>
            <a:ext cx="10728655" cy="82296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596128"/>
            <a:ext cx="10362895" cy="685800"/>
          </a:xfrm>
          <a:prstGeom prst="rect">
            <a:avLst/>
          </a:prstGeom>
          <a:noFill/>
        </p:spPr>
        <p:txBody>
          <a:bodyPr wrap="square">
            <a:spAutoFit/>
          </a:bodyPr>
          <a:lstStyle/>
          <a:p>
            <a:pPr>
              <a:spcAft>
                <a:spcPts val="200"/>
              </a:spcAft>
              <a:defRPr sz="2000" b="1">
                <a:solidFill>
                  <a:srgbClr val="1E3A8A"/>
                </a:solidFill>
                <a:latin typeface="Arial"/>
              </a:defRPr>
            </a:pPr>
            <a:r>
              <a:t>Model boundary:</a:t>
            </a:r>
          </a:p>
          <a:p>
            <a:pPr>
              <a:defRPr sz="1900">
                <a:solidFill>
                  <a:srgbClr val="0F172A"/>
                </a:solidFill>
                <a:latin typeface="Arial"/>
              </a:defRPr>
            </a:pPr>
            <a:r>
              <a:t>Current fitted domain: 50–63°C, homogenized oyster digestive tissue. Higher-temperature or whole-oyster cooking applications require process-specific validation.</a:t>
            </a:r>
          </a:p>
        </p:txBody>
      </p:sp>
      <p:sp>
        <p:nvSpPr>
          <p:cNvPr id="20" name="TextBox 19"/>
          <p:cNvSpPr txBox="1"/>
          <p:nvPr/>
        </p:nvSpPr>
        <p:spPr>
          <a:xfrm>
            <a:off x="10972800" y="6400800"/>
            <a:ext cx="914400" cy="320040"/>
          </a:xfrm>
          <a:prstGeom prst="rect">
            <a:avLst/>
          </a:prstGeom>
          <a:noFill/>
        </p:spPr>
        <p:txBody>
          <a:bodyPr wrap="none" lIns="0" rIns="0" tIns="0" bIns="0">
            <a:spAutoFit/>
          </a:bodyPr>
          <a:lstStyle/>
          <a:p>
            <a:pPr algn="r">
              <a:defRPr sz="1400">
                <a:solidFill>
                  <a:srgbClr val="64748B"/>
                </a:solidFill>
                <a:latin typeface="Aria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172A"/>
                </a:solidFill>
                <a:latin typeface="Arial"/>
              </a:defRPr>
            </a:pPr>
            <a:r>
              <a:t>Translating microbial reduction into consumer risk</a:t>
            </a:r>
          </a:p>
        </p:txBody>
      </p:sp>
      <p:sp>
        <p:nvSpPr>
          <p:cNvPr id="4" name="Rounded Rectangle 3"/>
          <p:cNvSpPr/>
          <p:nvPr/>
        </p:nvSpPr>
        <p:spPr>
          <a:xfrm>
            <a:off x="9144000" y="411480"/>
            <a:ext cx="2103120" cy="347472"/>
          </a:xfrm>
          <a:prstGeom prst="roundRect">
            <a:avLst/>
          </a:prstGeom>
          <a:solidFill>
            <a:srgbClr val="FEF3C7"/>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400" b="1">
                <a:solidFill>
                  <a:srgbClr val="92400E"/>
                </a:solidFill>
                <a:latin typeface="Arial"/>
              </a:defRPr>
            </a:pPr>
            <a:r>
              <a:t>Ongoing QMRA</a:t>
            </a:r>
          </a:p>
        </p:txBody>
      </p:sp>
      <p:sp>
        <p:nvSpPr>
          <p:cNvPr id="5" name="Rounded Rectangle 4"/>
          <p:cNvSpPr/>
          <p:nvPr/>
        </p:nvSpPr>
        <p:spPr>
          <a:xfrm>
            <a:off x="731520" y="1371600"/>
            <a:ext cx="196596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63040"/>
            <a:ext cx="1783080" cy="2103120"/>
          </a:xfrm>
          <a:prstGeom prst="rect">
            <a:avLst/>
          </a:prstGeom>
          <a:noFill/>
        </p:spPr>
        <p:txBody>
          <a:bodyPr wrap="square">
            <a:spAutoFit/>
          </a:bodyPr>
          <a:lstStyle/>
          <a:p>
            <a:pPr>
              <a:spcAft>
                <a:spcPts val="800"/>
              </a:spcAft>
              <a:defRPr sz="2000" b="1">
                <a:solidFill>
                  <a:srgbClr val="1E3A8A"/>
                </a:solidFill>
                <a:latin typeface="Arial"/>
              </a:defRPr>
            </a:pPr>
            <a:r>
              <a:t>Initial contamination</a:t>
            </a:r>
          </a:p>
          <a:p>
            <a:pPr>
              <a:defRPr sz="1800">
                <a:solidFill>
                  <a:srgbClr val="0F172A"/>
                </a:solidFill>
                <a:latin typeface="Arial"/>
              </a:defRPr>
            </a:pPr>
            <a:r>
              <a:t>HuNoV level in raw oysters</a:t>
            </a:r>
          </a:p>
        </p:txBody>
      </p:sp>
      <p:sp>
        <p:nvSpPr>
          <p:cNvPr id="7" name="Rounded Rectangle 6"/>
          <p:cNvSpPr/>
          <p:nvPr/>
        </p:nvSpPr>
        <p:spPr>
          <a:xfrm>
            <a:off x="2898648" y="1371600"/>
            <a:ext cx="196596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90088" y="1463040"/>
            <a:ext cx="1783080" cy="2103120"/>
          </a:xfrm>
          <a:prstGeom prst="rect">
            <a:avLst/>
          </a:prstGeom>
          <a:noFill/>
        </p:spPr>
        <p:txBody>
          <a:bodyPr wrap="square">
            <a:spAutoFit/>
          </a:bodyPr>
          <a:lstStyle/>
          <a:p>
            <a:pPr>
              <a:spcAft>
                <a:spcPts val="800"/>
              </a:spcAft>
              <a:defRPr sz="2000" b="1">
                <a:solidFill>
                  <a:srgbClr val="1E3A8A"/>
                </a:solidFill>
                <a:latin typeface="Arial"/>
              </a:defRPr>
            </a:pPr>
            <a:r>
              <a:t>Infectivity adjustment</a:t>
            </a:r>
          </a:p>
          <a:p>
            <a:pPr>
              <a:defRPr sz="1800">
                <a:solidFill>
                  <a:srgbClr val="0F172A"/>
                </a:solidFill>
                <a:latin typeface="Arial"/>
              </a:defRPr>
            </a:pPr>
            <a:r>
              <a:t>GC-to-infectious-virus uncertainty</a:t>
            </a:r>
          </a:p>
        </p:txBody>
      </p:sp>
      <p:sp>
        <p:nvSpPr>
          <p:cNvPr id="9" name="Rounded Rectangle 8"/>
          <p:cNvSpPr/>
          <p:nvPr/>
        </p:nvSpPr>
        <p:spPr>
          <a:xfrm>
            <a:off x="5065776" y="1371600"/>
            <a:ext cx="196596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57216" y="1463040"/>
            <a:ext cx="1783080" cy="2103120"/>
          </a:xfrm>
          <a:prstGeom prst="rect">
            <a:avLst/>
          </a:prstGeom>
          <a:noFill/>
        </p:spPr>
        <p:txBody>
          <a:bodyPr wrap="square">
            <a:spAutoFit/>
          </a:bodyPr>
          <a:lstStyle/>
          <a:p>
            <a:pPr>
              <a:spcAft>
                <a:spcPts val="800"/>
              </a:spcAft>
              <a:defRPr sz="2000" b="1">
                <a:solidFill>
                  <a:srgbClr val="1E3A8A"/>
                </a:solidFill>
                <a:latin typeface="Arial"/>
              </a:defRPr>
            </a:pPr>
            <a:r>
              <a:t>Dynamic thermal reduction</a:t>
            </a:r>
          </a:p>
          <a:p>
            <a:pPr>
              <a:defRPr sz="1800">
                <a:solidFill>
                  <a:srgbClr val="0F172A"/>
                </a:solidFill>
                <a:latin typeface="Arial"/>
              </a:defRPr>
            </a:pPr>
            <a:r>
              <a:t>T(t) + kinetic model</a:t>
            </a:r>
          </a:p>
        </p:txBody>
      </p:sp>
      <p:sp>
        <p:nvSpPr>
          <p:cNvPr id="11" name="Rounded Rectangle 10"/>
          <p:cNvSpPr/>
          <p:nvPr/>
        </p:nvSpPr>
        <p:spPr>
          <a:xfrm>
            <a:off x="7232904" y="1371600"/>
            <a:ext cx="196596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24344" y="1463040"/>
            <a:ext cx="1783080" cy="2103120"/>
          </a:xfrm>
          <a:prstGeom prst="rect">
            <a:avLst/>
          </a:prstGeom>
          <a:noFill/>
        </p:spPr>
        <p:txBody>
          <a:bodyPr wrap="square">
            <a:spAutoFit/>
          </a:bodyPr>
          <a:lstStyle/>
          <a:p>
            <a:pPr>
              <a:spcAft>
                <a:spcPts val="800"/>
              </a:spcAft>
              <a:defRPr sz="2000" b="1">
                <a:solidFill>
                  <a:srgbClr val="1E3A8A"/>
                </a:solidFill>
                <a:latin typeface="Arial"/>
              </a:defRPr>
            </a:pPr>
            <a:r>
              <a:t>Residual dose</a:t>
            </a:r>
          </a:p>
          <a:p>
            <a:pPr>
              <a:defRPr sz="1800">
                <a:solidFill>
                  <a:srgbClr val="0F172A"/>
                </a:solidFill>
                <a:latin typeface="Arial"/>
              </a:defRPr>
            </a:pPr>
            <a:r>
              <a:t>dose per serving</a:t>
            </a:r>
          </a:p>
        </p:txBody>
      </p:sp>
      <p:sp>
        <p:nvSpPr>
          <p:cNvPr id="13" name="Rounded Rectangle 12"/>
          <p:cNvSpPr/>
          <p:nvPr/>
        </p:nvSpPr>
        <p:spPr>
          <a:xfrm>
            <a:off x="9400032" y="1371600"/>
            <a:ext cx="196596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91472" y="1463040"/>
            <a:ext cx="1783080" cy="2103120"/>
          </a:xfrm>
          <a:prstGeom prst="rect">
            <a:avLst/>
          </a:prstGeom>
          <a:noFill/>
        </p:spPr>
        <p:txBody>
          <a:bodyPr wrap="square">
            <a:spAutoFit/>
          </a:bodyPr>
          <a:lstStyle/>
          <a:p>
            <a:pPr>
              <a:spcAft>
                <a:spcPts val="800"/>
              </a:spcAft>
              <a:defRPr sz="2000" b="1">
                <a:solidFill>
                  <a:srgbClr val="1E3A8A"/>
                </a:solidFill>
                <a:latin typeface="Arial"/>
              </a:defRPr>
            </a:pPr>
            <a:r>
              <a:t>Dose–response</a:t>
            </a:r>
          </a:p>
          <a:p>
            <a:pPr>
              <a:defRPr sz="1800">
                <a:solidFill>
                  <a:srgbClr val="0F172A"/>
                </a:solidFill>
                <a:latin typeface="Arial"/>
              </a:defRPr>
            </a:pPr>
            <a:r>
              <a:t>infection / illness probability</a:t>
            </a:r>
          </a:p>
        </p:txBody>
      </p:sp>
      <p:sp>
        <p:nvSpPr>
          <p:cNvPr id="15" name="Rounded Rectangle 14"/>
          <p:cNvSpPr/>
          <p:nvPr/>
        </p:nvSpPr>
        <p:spPr>
          <a:xfrm>
            <a:off x="731520" y="3840480"/>
            <a:ext cx="51206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931920"/>
            <a:ext cx="4754880" cy="2103120"/>
          </a:xfrm>
          <a:prstGeom prst="rect">
            <a:avLst/>
          </a:prstGeom>
          <a:noFill/>
        </p:spPr>
        <p:txBody>
          <a:bodyPr wrap="square">
            <a:spAutoFit/>
          </a:bodyPr>
          <a:lstStyle/>
          <a:p>
            <a:pPr>
              <a:spcAft>
                <a:spcPts val="600"/>
              </a:spcAft>
              <a:defRPr sz="2400" b="1">
                <a:solidFill>
                  <a:srgbClr val="1E3A8A"/>
                </a:solidFill>
                <a:latin typeface="Arial"/>
              </a:defRPr>
            </a:pPr>
            <a:r>
              <a:t>What QMRA adds</a:t>
            </a:r>
          </a:p>
          <a:p>
            <a:pPr>
              <a:defRPr sz="2000">
                <a:solidFill>
                  <a:srgbClr val="0F172A"/>
                </a:solidFill>
                <a:latin typeface="Arial"/>
              </a:defRPr>
            </a:pPr>
            <a:r>
              <a:t>It converts a microbial prediction — log reduction — into a decision-relevant consumer outcome: probability of infection or illness.</a:t>
            </a:r>
          </a:p>
        </p:txBody>
      </p:sp>
      <p:sp>
        <p:nvSpPr>
          <p:cNvPr id="17" name="Rounded Rectangle 16"/>
          <p:cNvSpPr/>
          <p:nvPr/>
        </p:nvSpPr>
        <p:spPr>
          <a:xfrm>
            <a:off x="6126480" y="3840480"/>
            <a:ext cx="5333695"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3931920"/>
            <a:ext cx="4967935" cy="2103120"/>
          </a:xfrm>
          <a:prstGeom prst="rect">
            <a:avLst/>
          </a:prstGeom>
          <a:noFill/>
        </p:spPr>
        <p:txBody>
          <a:bodyPr wrap="square">
            <a:spAutoFit/>
          </a:bodyPr>
          <a:lstStyle/>
          <a:p>
            <a:pPr>
              <a:spcAft>
                <a:spcPts val="600"/>
              </a:spcAft>
              <a:defRPr sz="2400" b="1">
                <a:solidFill>
                  <a:srgbClr val="1E3A8A"/>
                </a:solidFill>
                <a:latin typeface="Arial"/>
              </a:defRPr>
            </a:pPr>
            <a:r>
              <a:t>Uncertainty-aware</a:t>
            </a:r>
          </a:p>
          <a:p>
            <a:pPr>
              <a:defRPr sz="2000">
                <a:solidFill>
                  <a:srgbClr val="0F172A"/>
                </a:solidFill>
                <a:latin typeface="Arial"/>
              </a:defRPr>
            </a:pPr>
            <a:r>
              <a:t>Kinetic-parameter uncertainty and exposure uncertainty can be propagated through the risk model before recommendations are made.</a:t>
            </a:r>
          </a:p>
        </p:txBody>
      </p:sp>
      <p:sp>
        <p:nvSpPr>
          <p:cNvPr id="19" name="TextBox 18"/>
          <p:cNvSpPr txBox="1"/>
          <p:nvPr/>
        </p:nvSpPr>
        <p:spPr>
          <a:xfrm>
            <a:off x="731520" y="6446520"/>
            <a:ext cx="10058400" cy="274320"/>
          </a:xfrm>
          <a:prstGeom prst="rect">
            <a:avLst/>
          </a:prstGeom>
          <a:noFill/>
        </p:spPr>
        <p:txBody>
          <a:bodyPr wrap="none">
            <a:spAutoFit/>
          </a:bodyPr>
          <a:lstStyle/>
          <a:p>
            <a:pPr>
              <a:defRPr sz="1400" i="1">
                <a:solidFill>
                  <a:srgbClr val="64748B"/>
                </a:solidFill>
                <a:latin typeface="Arial"/>
              </a:defRPr>
            </a:pPr>
            <a:r>
              <a:t>QMRA integration is ongoing; no final risk numbers are claimed here.</a:t>
            </a:r>
          </a:p>
        </p:txBody>
      </p:sp>
      <p:sp>
        <p:nvSpPr>
          <p:cNvPr id="20" name="TextBox 19"/>
          <p:cNvSpPr txBox="1"/>
          <p:nvPr/>
        </p:nvSpPr>
        <p:spPr>
          <a:xfrm>
            <a:off x="10972800" y="6400800"/>
            <a:ext cx="914400" cy="320040"/>
          </a:xfrm>
          <a:prstGeom prst="rect">
            <a:avLst/>
          </a:prstGeom>
          <a:noFill/>
        </p:spPr>
        <p:txBody>
          <a:bodyPr wrap="none" lIns="0" rIns="0" tIns="0" bIns="0">
            <a:spAutoFit/>
          </a:bodyPr>
          <a:lstStyle/>
          <a:p>
            <a:pPr algn="r">
              <a:defRPr sz="1400">
                <a:solidFill>
                  <a:srgbClr val="64748B"/>
                </a:solidFill>
                <a:latin typeface="Aria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172A"/>
                </a:solidFill>
                <a:latin typeface="Arial"/>
              </a:defRPr>
            </a:pPr>
            <a:r>
              <a:t>From microbial safety to a practical product recommendation</a:t>
            </a:r>
          </a:p>
        </p:txBody>
      </p:sp>
      <p:sp>
        <p:nvSpPr>
          <p:cNvPr id="4" name="Rounded Rectangle 3"/>
          <p:cNvSpPr/>
          <p:nvPr/>
        </p:nvSpPr>
        <p:spPr>
          <a:xfrm>
            <a:off x="8778240" y="411480"/>
            <a:ext cx="2560320" cy="347472"/>
          </a:xfrm>
          <a:prstGeom prst="roundRect">
            <a:avLst/>
          </a:prstGeom>
          <a:solidFill>
            <a:srgbClr val="F3E8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400" b="1">
                <a:solidFill>
                  <a:srgbClr val="6B21A8"/>
                </a:solidFill>
                <a:latin typeface="Arial"/>
              </a:defRPr>
            </a:pPr>
            <a:r>
              <a:t>Sensory = Future Phase</a:t>
            </a:r>
          </a:p>
        </p:txBody>
      </p:sp>
      <p:sp>
        <p:nvSpPr>
          <p:cNvPr id="5" name="Rounded Rectangle 4"/>
          <p:cNvSpPr/>
          <p:nvPr/>
        </p:nvSpPr>
        <p:spPr>
          <a:xfrm>
            <a:off x="731520" y="1371600"/>
            <a:ext cx="329184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3017520" cy="2468880"/>
          </a:xfrm>
          <a:prstGeom prst="rect">
            <a:avLst/>
          </a:prstGeom>
          <a:noFill/>
        </p:spPr>
        <p:txBody>
          <a:bodyPr wrap="square">
            <a:spAutoFit/>
          </a:bodyPr>
          <a:lstStyle/>
          <a:p>
            <a:pPr>
              <a:spcAft>
                <a:spcPts val="800"/>
              </a:spcAft>
              <a:defRPr sz="2400" b="1">
                <a:solidFill>
                  <a:srgbClr val="1E3A8A"/>
                </a:solidFill>
                <a:latin typeface="Arial"/>
              </a:defRPr>
            </a:pPr>
            <a:r>
              <a:t>Safety target</a:t>
            </a:r>
          </a:p>
          <a:p>
            <a:pPr>
              <a:spcAft>
                <a:spcPts val="400"/>
              </a:spcAft>
              <a:defRPr sz="1900">
                <a:solidFill>
                  <a:srgbClr val="0F172A"/>
                </a:solidFill>
                <a:latin typeface="Arial"/>
              </a:defRPr>
            </a:pPr>
            <a:r>
              <a:t>• Pathogen reduction</a:t>
            </a:r>
          </a:p>
          <a:p>
            <a:pPr>
              <a:spcAft>
                <a:spcPts val="400"/>
              </a:spcAft>
              <a:defRPr sz="1900">
                <a:solidFill>
                  <a:srgbClr val="0F172A"/>
                </a:solidFill>
                <a:latin typeface="Arial"/>
              </a:defRPr>
            </a:pPr>
            <a:r>
              <a:t>• QMRA risk threshold</a:t>
            </a:r>
          </a:p>
          <a:p>
            <a:pPr>
              <a:spcAft>
                <a:spcPts val="400"/>
              </a:spcAft>
              <a:defRPr sz="1900">
                <a:solidFill>
                  <a:srgbClr val="0F172A"/>
                </a:solidFill>
                <a:latin typeface="Arial"/>
              </a:defRPr>
            </a:pPr>
            <a:r>
              <a:t>• Process validation under variability</a:t>
            </a:r>
          </a:p>
        </p:txBody>
      </p:sp>
      <p:sp>
        <p:nvSpPr>
          <p:cNvPr id="7" name="Rounded Rectangle 6"/>
          <p:cNvSpPr/>
          <p:nvPr/>
        </p:nvSpPr>
        <p:spPr>
          <a:xfrm>
            <a:off x="4206240" y="1371600"/>
            <a:ext cx="3779215" cy="2743200"/>
          </a:xfrm>
          <a:prstGeom prst="roundRect">
            <a:avLst/>
          </a:prstGeom>
          <a:solidFill>
            <a:srgbClr val="EFF6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43400" y="1554480"/>
            <a:ext cx="3504895" cy="2377440"/>
          </a:xfrm>
          <a:prstGeom prst="rect">
            <a:avLst/>
          </a:prstGeom>
          <a:noFill/>
        </p:spPr>
        <p:txBody>
          <a:bodyPr wrap="square">
            <a:spAutoFit/>
          </a:bodyPr>
          <a:lstStyle/>
          <a:p>
            <a:pPr algn="ctr">
              <a:spcAft>
                <a:spcPts val="1000"/>
              </a:spcAft>
              <a:defRPr sz="2200" b="1">
                <a:solidFill>
                  <a:srgbClr val="1E3A8A"/>
                </a:solidFill>
                <a:latin typeface="Arial"/>
              </a:defRPr>
            </a:pPr>
            <a:r>
              <a:t>Recommended operating window</a:t>
            </a:r>
          </a:p>
          <a:p>
            <a:pPr algn="ctr">
              <a:defRPr sz="2000" b="1">
                <a:solidFill>
                  <a:srgbClr val="0D9488"/>
                </a:solidFill>
                <a:latin typeface="Arial"/>
              </a:defRPr>
            </a:pPr>
            <a:r>
              <a:t>Risk-based + quality-aware</a:t>
            </a:r>
          </a:p>
        </p:txBody>
      </p:sp>
      <p:sp>
        <p:nvSpPr>
          <p:cNvPr id="9" name="Rounded Rectangle 8"/>
          <p:cNvSpPr/>
          <p:nvPr/>
        </p:nvSpPr>
        <p:spPr>
          <a:xfrm>
            <a:off x="8168335" y="1371600"/>
            <a:ext cx="329184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5495" y="1508760"/>
            <a:ext cx="3017520" cy="2468880"/>
          </a:xfrm>
          <a:prstGeom prst="rect">
            <a:avLst/>
          </a:prstGeom>
          <a:noFill/>
        </p:spPr>
        <p:txBody>
          <a:bodyPr wrap="square">
            <a:spAutoFit/>
          </a:bodyPr>
          <a:lstStyle/>
          <a:p>
            <a:pPr>
              <a:spcAft>
                <a:spcPts val="800"/>
              </a:spcAft>
              <a:defRPr sz="2400" b="1">
                <a:solidFill>
                  <a:srgbClr val="6B21A8"/>
                </a:solidFill>
                <a:latin typeface="Arial"/>
              </a:defRPr>
            </a:pPr>
            <a:r>
              <a:t>Product quality</a:t>
            </a:r>
          </a:p>
          <a:p>
            <a:pPr>
              <a:spcAft>
                <a:spcPts val="400"/>
              </a:spcAft>
              <a:defRPr sz="1900">
                <a:solidFill>
                  <a:srgbClr val="0F172A"/>
                </a:solidFill>
                <a:latin typeface="Arial"/>
              </a:defRPr>
            </a:pPr>
            <a:r>
              <a:t>• Texture / elasticity</a:t>
            </a:r>
          </a:p>
          <a:p>
            <a:pPr>
              <a:spcAft>
                <a:spcPts val="400"/>
              </a:spcAft>
              <a:defRPr sz="1900">
                <a:solidFill>
                  <a:srgbClr val="0F172A"/>
                </a:solidFill>
                <a:latin typeface="Arial"/>
              </a:defRPr>
            </a:pPr>
            <a:r>
              <a:t>• Juiciness / yield</a:t>
            </a:r>
          </a:p>
          <a:p>
            <a:pPr>
              <a:spcAft>
                <a:spcPts val="400"/>
              </a:spcAft>
              <a:defRPr sz="1900">
                <a:solidFill>
                  <a:srgbClr val="0F172A"/>
                </a:solidFill>
                <a:latin typeface="Arial"/>
              </a:defRPr>
            </a:pPr>
            <a:r>
              <a:t>• Flavor and appearance</a:t>
            </a:r>
          </a:p>
          <a:p>
            <a:pPr>
              <a:spcAft>
                <a:spcPts val="400"/>
              </a:spcAft>
              <a:defRPr sz="1900">
                <a:solidFill>
                  <a:srgbClr val="0F172A"/>
                </a:solidFill>
                <a:latin typeface="Arial"/>
              </a:defRPr>
            </a:pPr>
            <a:r>
              <a:t>• Overall acceptability</a:t>
            </a:r>
          </a:p>
        </p:txBody>
      </p:sp>
      <p:sp>
        <p:nvSpPr>
          <p:cNvPr id="11" name="Rounded Rectangle 10"/>
          <p:cNvSpPr/>
          <p:nvPr/>
        </p:nvSpPr>
        <p:spPr>
          <a:xfrm>
            <a:off x="731520" y="4297680"/>
            <a:ext cx="10728655" cy="18288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389120"/>
            <a:ext cx="10362895" cy="1645920"/>
          </a:xfrm>
          <a:prstGeom prst="rect">
            <a:avLst/>
          </a:prstGeom>
          <a:noFill/>
        </p:spPr>
        <p:txBody>
          <a:bodyPr wrap="square">
            <a:spAutoFit/>
          </a:bodyPr>
          <a:lstStyle/>
          <a:p>
            <a:pPr>
              <a:spcAft>
                <a:spcPts val="400"/>
              </a:spcAft>
              <a:defRPr sz="2400" b="1">
                <a:solidFill>
                  <a:srgbClr val="1E3A8A"/>
                </a:solidFill>
                <a:latin typeface="Arial"/>
              </a:defRPr>
            </a:pPr>
            <a:r>
              <a:t>Food-industry objective:</a:t>
            </a:r>
          </a:p>
          <a:p>
            <a:pPr>
              <a:defRPr sz="2000" b="1">
                <a:solidFill>
                  <a:srgbClr val="0F172A"/>
                </a:solidFill>
                <a:latin typeface="Arial"/>
              </a:defRPr>
            </a:pPr>
            <a:r>
              <a:t>The optimum process is not the hottest or longest treatment. It is the minimum validated treatment that reliably meets the safety target while preserving acceptable quality.</a:t>
            </a:r>
          </a:p>
        </p:txBody>
      </p:sp>
      <p:sp>
        <p:nvSpPr>
          <p:cNvPr id="13" name="TextBox 12"/>
          <p:cNvSpPr txBox="1"/>
          <p:nvPr/>
        </p:nvSpPr>
        <p:spPr>
          <a:xfrm>
            <a:off x="10972800" y="6400800"/>
            <a:ext cx="914400" cy="320040"/>
          </a:xfrm>
          <a:prstGeom prst="rect">
            <a:avLst/>
          </a:prstGeom>
          <a:noFill/>
        </p:spPr>
        <p:txBody>
          <a:bodyPr wrap="none" lIns="0" rIns="0" tIns="0" bIns="0">
            <a:spAutoFit/>
          </a:bodyPr>
          <a:lstStyle/>
          <a:p>
            <a:pPr algn="r">
              <a:defRPr sz="1400">
                <a:solidFill>
                  <a:srgbClr val="64748B"/>
                </a:solidFill>
                <a:latin typeface="Aria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172A"/>
                </a:solidFill>
                <a:latin typeface="Arial"/>
              </a:defRPr>
            </a:pPr>
            <a:r>
              <a:t>The same modeling framework can support fermentation R&amp;D</a:t>
            </a:r>
          </a:p>
        </p:txBody>
      </p:sp>
      <p:sp>
        <p:nvSpPr>
          <p:cNvPr id="4" name="Rounded Rectangle 3"/>
          <p:cNvSpPr/>
          <p:nvPr/>
        </p:nvSpPr>
        <p:spPr>
          <a:xfrm>
            <a:off x="731520" y="1325880"/>
            <a:ext cx="493776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4572000" cy="2103120"/>
          </a:xfrm>
          <a:prstGeom prst="rect">
            <a:avLst/>
          </a:prstGeom>
          <a:noFill/>
        </p:spPr>
        <p:txBody>
          <a:bodyPr wrap="square">
            <a:spAutoFit/>
          </a:bodyPr>
          <a:lstStyle/>
          <a:p>
            <a:pPr>
              <a:spcAft>
                <a:spcPts val="800"/>
              </a:spcAft>
              <a:defRPr sz="2400" b="1">
                <a:solidFill>
                  <a:srgbClr val="1E3A8A"/>
                </a:solidFill>
                <a:latin typeface="Arial"/>
              </a:defRPr>
            </a:pPr>
            <a:r>
              <a:t>Thermal food safety</a:t>
            </a:r>
          </a:p>
          <a:p>
            <a:pPr>
              <a:defRPr sz="2000">
                <a:solidFill>
                  <a:srgbClr val="0F172A"/>
                </a:solidFill>
                <a:latin typeface="Arial"/>
              </a:defRPr>
            </a:pPr>
            <a:r>
              <a:t>T(t) → inactivation kinetics → consumer risk → safety × quality window</a:t>
            </a:r>
          </a:p>
        </p:txBody>
      </p:sp>
      <p:sp>
        <p:nvSpPr>
          <p:cNvPr id="6" name="Rounded Rectangle 5"/>
          <p:cNvSpPr/>
          <p:nvPr/>
        </p:nvSpPr>
        <p:spPr>
          <a:xfrm>
            <a:off x="5806440" y="1325880"/>
            <a:ext cx="578815" cy="228600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33872" y="1691640"/>
            <a:ext cx="521207" cy="1554480"/>
          </a:xfrm>
          <a:prstGeom prst="rect">
            <a:avLst/>
          </a:prstGeom>
          <a:noFill/>
        </p:spPr>
        <p:txBody>
          <a:bodyPr wrap="square">
            <a:spAutoFit/>
          </a:bodyPr>
          <a:lstStyle/>
          <a:p>
            <a:pPr algn="ctr">
              <a:defRPr sz="1700" b="1">
                <a:solidFill>
                  <a:srgbClr val="0D9488"/>
                </a:solidFill>
                <a:latin typeface="Arial"/>
              </a:defRPr>
            </a:pPr>
            <a:r>
              <a:t>Same logic</a:t>
            </a:r>
          </a:p>
        </p:txBody>
      </p:sp>
      <p:sp>
        <p:nvSpPr>
          <p:cNvPr id="8" name="Rounded Rectangle 7"/>
          <p:cNvSpPr/>
          <p:nvPr/>
        </p:nvSpPr>
        <p:spPr>
          <a:xfrm>
            <a:off x="6522415" y="1325880"/>
            <a:ext cx="493776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05295" y="1417320"/>
            <a:ext cx="4572000" cy="2103120"/>
          </a:xfrm>
          <a:prstGeom prst="rect">
            <a:avLst/>
          </a:prstGeom>
          <a:noFill/>
        </p:spPr>
        <p:txBody>
          <a:bodyPr wrap="square">
            <a:spAutoFit/>
          </a:bodyPr>
          <a:lstStyle/>
          <a:p>
            <a:pPr>
              <a:spcAft>
                <a:spcPts val="800"/>
              </a:spcAft>
              <a:defRPr sz="2400" b="1">
                <a:solidFill>
                  <a:srgbClr val="0D9488"/>
                </a:solidFill>
                <a:latin typeface="Arial"/>
              </a:defRPr>
            </a:pPr>
            <a:r>
              <a:t>Fermentation product development</a:t>
            </a:r>
          </a:p>
          <a:p>
            <a:pPr>
              <a:defRPr sz="2000">
                <a:solidFill>
                  <a:srgbClr val="0F172A"/>
                </a:solidFill>
                <a:latin typeface="Arial"/>
              </a:defRPr>
            </a:pPr>
            <a:r>
              <a:t>process conditions → growth / acidification kinetics → flavor, texture, post-acidification → robust operating window</a:t>
            </a:r>
          </a:p>
        </p:txBody>
      </p:sp>
      <p:sp>
        <p:nvSpPr>
          <p:cNvPr id="10" name="Rounded Rectangle 9"/>
          <p:cNvSpPr/>
          <p:nvPr/>
        </p:nvSpPr>
        <p:spPr>
          <a:xfrm>
            <a:off x="731520" y="3794760"/>
            <a:ext cx="10728655"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886200"/>
            <a:ext cx="10362895" cy="1280160"/>
          </a:xfrm>
          <a:prstGeom prst="rect">
            <a:avLst/>
          </a:prstGeom>
          <a:noFill/>
        </p:spPr>
        <p:txBody>
          <a:bodyPr wrap="square">
            <a:spAutoFit/>
          </a:bodyPr>
          <a:lstStyle/>
          <a:p>
            <a:pPr>
              <a:spcAft>
                <a:spcPts val="400"/>
              </a:spcAft>
              <a:defRPr sz="2400" b="1">
                <a:solidFill>
                  <a:srgbClr val="1E3A8A"/>
                </a:solidFill>
                <a:latin typeface="Arial"/>
              </a:defRPr>
            </a:pPr>
            <a:r>
              <a:t>Why this matters in fermentation</a:t>
            </a:r>
          </a:p>
          <a:p>
            <a:pPr>
              <a:defRPr sz="2000" b="1">
                <a:solidFill>
                  <a:srgbClr val="0F172A"/>
                </a:solidFill>
                <a:latin typeface="Arial"/>
              </a:defRPr>
            </a:pPr>
            <a:r>
              <a:t>In industrial fermentation, robustness to process variability can be more valuable than a single condition with the best average performance.</a:t>
            </a:r>
          </a:p>
        </p:txBody>
      </p:sp>
      <p:sp>
        <p:nvSpPr>
          <p:cNvPr id="12" name="Rounded Rectangle 11"/>
          <p:cNvSpPr/>
          <p:nvPr/>
        </p:nvSpPr>
        <p:spPr>
          <a:xfrm>
            <a:off x="731520" y="5394960"/>
            <a:ext cx="10728655" cy="100584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486400"/>
            <a:ext cx="10362895" cy="822960"/>
          </a:xfrm>
          <a:prstGeom prst="rect">
            <a:avLst/>
          </a:prstGeom>
          <a:noFill/>
        </p:spPr>
        <p:txBody>
          <a:bodyPr wrap="square">
            <a:spAutoFit/>
          </a:bodyPr>
          <a:lstStyle/>
          <a:p>
            <a:pPr>
              <a:spcAft>
                <a:spcPts val="200"/>
              </a:spcAft>
              <a:defRPr sz="2200" b="1">
                <a:solidFill>
                  <a:srgbClr val="1E3A8A"/>
                </a:solidFill>
                <a:latin typeface="Arial"/>
              </a:defRPr>
            </a:pPr>
            <a:r>
              <a:t>Takeaways:</a:t>
            </a:r>
          </a:p>
          <a:p>
            <a:pPr>
              <a:defRPr sz="1900">
                <a:solidFill>
                  <a:srgbClr val="0F172A"/>
                </a:solidFill>
                <a:latin typeface="Arial"/>
              </a:defRPr>
            </a:pPr>
            <a:r>
              <a:t>Dynamic modeling connects experiments to process trajectories  •  QMRA translates biology into decisions  •  The same framework supports robust product-process optimization</a:t>
            </a:r>
          </a:p>
        </p:txBody>
      </p:sp>
      <p:sp>
        <p:nvSpPr>
          <p:cNvPr id="14" name="TextBox 13"/>
          <p:cNvSpPr txBox="1"/>
          <p:nvPr/>
        </p:nvSpPr>
        <p:spPr>
          <a:xfrm>
            <a:off x="10972800" y="6400800"/>
            <a:ext cx="914400" cy="320040"/>
          </a:xfrm>
          <a:prstGeom prst="rect">
            <a:avLst/>
          </a:prstGeom>
          <a:noFill/>
        </p:spPr>
        <p:txBody>
          <a:bodyPr wrap="none" lIns="0" rIns="0" tIns="0" bIns="0">
            <a:spAutoFit/>
          </a:bodyPr>
          <a:lstStyle/>
          <a:p>
            <a:pPr algn="r">
              <a:defRPr sz="1400">
                <a:solidFill>
                  <a:srgbClr val="64748B"/>
                </a:solidFill>
                <a:latin typeface="Arial"/>
              </a:defRPr>
            </a:pPr>
            <a: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